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charts/chart5.xml" ContentType="application/vnd.openxmlformats-officedocument.drawingml.chart+xml"/>
  <Override PartName="/ppt/charts/style4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colors6.xml" ContentType="application/vnd.ms-office.chartcolorstyle+xml"/>
  <Override PartName="/ppt/charts/style6.xml" ContentType="application/vnd.ms-office.chartstyle+xml"/>
  <Override PartName="/ppt/charts/style1.xml" ContentType="application/vnd.ms-office.chartstyle+xml"/>
  <Override PartName="/ppt/charts/chart1.xml" ContentType="application/vnd.openxmlformats-officedocument.drawingml.chart+xml"/>
  <Override PartName="/ppt/charts/colors5.xml" ContentType="application/vnd.ms-office.chartcolorstyle+xml"/>
  <Override PartName="/ppt/charts/style5.xml" ContentType="application/vnd.ms-office.chartstyle+xml"/>
  <Override PartName="/ppt/charts/colors4.xml" ContentType="application/vnd.ms-office.chartcolorstyle+xml"/>
  <Override PartName="/ppt/charts/chart3.xml" ContentType="application/vnd.openxmlformats-officedocument.drawingml.chart+xml"/>
  <Override PartName="/ppt/charts/chart2.xml" ContentType="application/vnd.openxmlformats-officedocument.drawingml.chart+xml"/>
  <Override PartName="/ppt/charts/colors2.xml" ContentType="application/vnd.ms-office.chartcolorstyle+xml"/>
  <Override PartName="/ppt/charts/style3.xml" ContentType="application/vnd.ms-office.chartstyle+xml"/>
  <Override PartName="/ppt/charts/colors1.xml" ContentType="application/vnd.ms-office.chartcolorstyle+xml"/>
  <Override PartName="/ppt/charts/chart6.xml" ContentType="application/vnd.openxmlformats-officedocument.drawingml.chart+xml"/>
  <Override PartName="/ppt/charts/style2.xml" ContentType="application/vnd.ms-office.chartstyl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presProps" Target="presProps.xml"/>
</Relationships>
</file>

<file path=ppt/charts/_rels/chart1.xml.rels><?xml version="1.0" encoding="UTF-8"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
</Relationships>
</file>

<file path=ppt/charts/_rels/chart2.xml.rels><?xml version="1.0" encoding="UTF-8"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
</Relationships>
</file>

<file path=ppt/charts/_rels/chart3.xml.rels><?xml version="1.0" encoding="UTF-8"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
</Relationships>
</file>

<file path=ppt/charts/_rels/chart4.xml.rels><?xml version="1.0" encoding="UTF-8"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
</Relationships>
</file>

<file path=ppt/charts/_rels/chart5.xml.rels><?xml version="1.0" encoding="UTF-8"?>
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
</Relationships>
</file>

<file path=ppt/charts/_rels/chart6.xml.rels><?xml version="1.0" encoding="UTF-8"?>
<Relationships xmlns="http://schemas.openxmlformats.org/package/2006/relationships"><Relationship Id="rId1" Type="http://schemas.microsoft.com/office/2011/relationships/chartStyle" Target="style6.xml"/><Relationship Id="rId2" Type="http://schemas.microsoft.com/office/2011/relationships/chartColorStyle" Target="colors6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sz="2160" b="1" u="none" strike="noStrike">
                <a:solidFill>
                  <a:srgbClr val="000000"/>
                </a:solidFill>
                <a:uFillTx/>
                <a:latin typeface="Calibri"/>
              </a:rPr>
              <a:t>Volume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Volume</c:v>
                </c:pt>
              </c:strCache>
            </c:strRef>
          </c:tx>
          <c:spPr>
            <a:solidFill>
              <a:srgbClr val="D4AF37"/>
            </a:solidFill>
            <a:ln w="0">
              <a:noFill/>
            </a:ln>
          </c:spPr>
          <c:invertIfNegative val="0"/>
          <c:dLbls>
            <c:txPr>
              <a:bodyPr wrap="square"/>
              <a:lstStyle/>
              <a:p>
                <a:pPr>
                  <a:defRPr sz="1200" b="1" u="none" strike="noStrike">
                    <a:solidFill>
                      <a:srgbClr val="0A0A0F"/>
                    </a:solidFill>
                    <a:uFillTx/>
                    <a:latin typeface="Calibri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; </c:separator>
            <c:showLeaderLines val="1"/>
            <c:leaderLines>
              <c:spPr>
                <a:ln w="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2"/>
                <c:pt idx="0">
                  <c:v>Real Cases</c:v>
                </c:pt>
                <c:pt idx="1">
                  <c:v>Synthetic Data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2"/>
                <c:pt idx="0">
                  <c:v>87</c:v>
                </c:pt>
                <c:pt idx="1">
                  <c:v>50000</c:v>
                </c:pt>
              </c:numCache>
            </c:numRef>
          </c:val>
        </c:ser>
        <c:gapWidth val="150"/>
        <c:overlap val="0"/>
        <c:axId val="53439664"/>
        <c:axId val="11326091"/>
      </c:barChart>
      <c:catAx>
        <c:axId val="53439664"/>
        <c:scaling>
          <c:orientation val="minMax"/>
        </c:scaling>
        <c:delete val="0"/>
        <c:axPos val="b"/>
        <c:numFmt formatCode="[$-409]mm/dd/yyyy" sourceLinked="1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100" b="0" u="none" strike="noStrike">
                <a:solidFill>
                  <a:srgbClr val="334155"/>
                </a:solidFill>
                <a:uFillTx/>
                <a:latin typeface="Calibri"/>
              </a:defRPr>
            </a:pPr>
          </a:p>
        </c:txPr>
        <c:crossAx val="11326091"/>
        <c:crosses val="autoZero"/>
        <c:auto val="1"/>
        <c:lblAlgn val="ctr"/>
        <c:lblOffset val="100"/>
        <c:noMultiLvlLbl val="0"/>
      </c:catAx>
      <c:valAx>
        <c:axId val="11326091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800" b="0" u="none" strike="noStrik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53439664"/>
        <c:crossBetween val="between"/>
      </c:valAx>
      <c:spPr>
        <a:noFill/>
        <a:ln w="0">
          <a:noFill/>
        </a:ln>
      </c:spPr>
    </c:plotArea>
    <c:plotVisOnly val="1"/>
    <c:dispBlanksAs val="gap"/>
  </c:chart>
  <c:spPr>
    <a:noFill/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sz="2160" b="1" u="none" strike="noStrike">
                <a:solidFill>
                  <a:srgbClr val="000000"/>
                </a:solidFill>
                <a:uFillTx/>
                <a:latin typeface="Calibri"/>
              </a:rPr>
              <a:t>ROI %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ROI %</c:v>
                </c:pt>
              </c:strCache>
            </c:strRef>
          </c:tx>
          <c:spPr>
            <a:solidFill>
              <a:srgbClr val="D4AF37"/>
            </a:solidFill>
            <a:ln w="38160">
              <a:solidFill>
                <a:srgbClr val="D4AF37"/>
              </a:solidFill>
              <a:round/>
            </a:ln>
          </c:spPr>
          <c:dLbls>
            <c:txPr>
              <a:bodyPr wrap="square"/>
              <a:lstStyle/>
              <a:p>
                <a:pPr>
                  <a:defRPr sz="1000" b="1" u="none" strike="noStrike">
                    <a:solidFill>
                      <a:srgbClr val="B8860B"/>
                    </a:solidFill>
                    <a:uFillTx/>
                    <a:latin typeface="Calibri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eparator>; </c:separator>
            <c:showLeaderLines val="1"/>
            <c:leaderLines>
              <c:spPr>
                <a:ln w="3816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7"/>
                <c:pt idx="0">
                  <c:v>Month 0</c:v>
                </c:pt>
                <c:pt idx="1">
                  <c:v>Month 6</c:v>
                </c:pt>
                <c:pt idx="2">
                  <c:v>Month 12</c:v>
                </c:pt>
                <c:pt idx="3">
                  <c:v>Month 18</c:v>
                </c:pt>
                <c:pt idx="4">
                  <c:v>Month 24</c:v>
                </c:pt>
                <c:pt idx="5">
                  <c:v>Month 30</c:v>
                </c:pt>
                <c:pt idx="6">
                  <c:v>Month 36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7"/>
                <c:pt idx="0">
                  <c:v>0</c:v>
                </c:pt>
                <c:pt idx="1">
                  <c:v>85</c:v>
                </c:pt>
                <c:pt idx="2">
                  <c:v>180</c:v>
                </c:pt>
                <c:pt idx="3">
                  <c:v>320</c:v>
                </c:pt>
                <c:pt idx="4">
                  <c:v>480</c:v>
                </c:pt>
                <c:pt idx="5">
                  <c:v>580</c:v>
                </c:pt>
                <c:pt idx="6">
                  <c:v>680</c:v>
                </c:pt>
              </c:numCache>
            </c:numRef>
          </c:val>
          <c:smooth val="1"/>
        </c:ser>
        <c:hiLowLines>
          <c:spPr>
            <a:ln w="0">
              <a:noFill/>
            </a:ln>
          </c:spPr>
        </c:hiLowLines>
        <c:marker val="1"/>
        <c:axId val="51722743"/>
        <c:axId val="65759851"/>
      </c:lineChart>
      <c:catAx>
        <c:axId val="51722743"/>
        <c:scaling>
          <c:orientation val="minMax"/>
        </c:scaling>
        <c:delete val="0"/>
        <c:axPos val="b"/>
        <c:numFmt formatCode="[$-409]mm/dd/yyyy" sourceLinked="1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900" b="0" u="none" strike="noStrike">
                <a:solidFill>
                  <a:srgbClr val="334155"/>
                </a:solidFill>
                <a:uFillTx/>
                <a:latin typeface="Calibri"/>
              </a:defRPr>
            </a:pPr>
          </a:p>
        </c:txPr>
        <c:crossAx val="65759851"/>
        <c:crosses val="autoZero"/>
        <c:auto val="1"/>
        <c:lblAlgn val="ctr"/>
        <c:lblOffset val="100"/>
        <c:noMultiLvlLbl val="0"/>
      </c:catAx>
      <c:valAx>
        <c:axId val="65759851"/>
        <c:scaling>
          <c:orientation val="minMax"/>
        </c:scaling>
        <c:delete val="1"/>
        <c:axPos val="l"/>
        <c:majorGridlines>
          <c:spPr>
            <a:ln w="9360">
              <a:solidFill>
                <a:srgbClr val="878787"/>
              </a:solidFill>
              <a:round/>
            </a:ln>
          </c:spPr>
        </c:majorGridlines>
        <c:numFmt formatCode="General" sourceLinked="1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800" b="0" u="none" strike="noStrik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51722743"/>
        <c:crossBetween val="between"/>
      </c:valAx>
      <c:spPr>
        <a:noFill/>
        <a:ln w="0">
          <a:noFill/>
        </a:ln>
      </c:spPr>
    </c:plotArea>
    <c:plotVisOnly val="1"/>
    <c:dispBlanksAs val="gap"/>
  </c:chart>
  <c:spPr>
    <a:noFill/>
    <a:ln w="0"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sz="2160" b="1" u="none" strike="noStrike">
                <a:solidFill>
                  <a:srgbClr val="000000"/>
                </a:solidFill>
                <a:uFillTx/>
                <a:latin typeface="Calibri"/>
              </a:rPr>
              <a:t>AUC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bar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AUC</c:v>
                </c:pt>
              </c:strCache>
            </c:strRef>
          </c:tx>
          <c:spPr>
            <a:solidFill>
              <a:srgbClr val="D4AF37"/>
            </a:solidFill>
            <a:ln w="0">
              <a:noFill/>
            </a:ln>
          </c:spPr>
          <c:invertIfNegative val="0"/>
          <c:dLbls>
            <c:txPr>
              <a:bodyPr wrap="square"/>
              <a:lstStyle/>
              <a:p>
                <a:pPr>
                  <a:defRPr sz="1400" b="1" u="none" strike="noStrike">
                    <a:solidFill>
                      <a:srgbClr val="FFFFFF"/>
                    </a:solidFill>
                    <a:uFillTx/>
                    <a:latin typeface="Calibri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; </c:separator>
            <c:showLeaderLines val="1"/>
            <c:leaderLines>
              <c:spPr>
                <a:ln w="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2"/>
                <c:pt idx="0">
                  <c:v>Before</c:v>
                </c:pt>
                <c:pt idx="1">
                  <c:v>After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2"/>
                <c:pt idx="0">
                  <c:v>0.72</c:v>
                </c:pt>
                <c:pt idx="1">
                  <c:v>0.91</c:v>
                </c:pt>
              </c:numCache>
            </c:numRef>
          </c:val>
        </c:ser>
        <c:gapWidth val="150"/>
        <c:overlap val="0"/>
        <c:axId val="52062757"/>
        <c:axId val="78259948"/>
      </c:barChart>
      <c:catAx>
        <c:axId val="52062757"/>
        <c:scaling>
          <c:orientation val="minMax"/>
        </c:scaling>
        <c:delete val="0"/>
        <c:axPos val="b"/>
        <c:numFmt formatCode="[$-409]mm/dd/yyyy" sourceLinked="1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100" b="0" u="none" strike="noStrike">
                <a:solidFill>
                  <a:srgbClr val="CBD5E1"/>
                </a:solidFill>
                <a:uFillTx/>
                <a:latin typeface="Calibri"/>
              </a:defRPr>
            </a:pPr>
          </a:p>
        </c:txPr>
        <c:crossAx val="78259948"/>
        <c:crosses val="autoZero"/>
        <c:auto val="1"/>
        <c:lblAlgn val="ctr"/>
        <c:lblOffset val="100"/>
        <c:noMultiLvlLbl val="0"/>
      </c:catAx>
      <c:valAx>
        <c:axId val="78259948"/>
        <c:scaling>
          <c:orientation val="minMax"/>
        </c:scaling>
        <c:delete val="1"/>
        <c:axPos val="l"/>
        <c:majorGridlines>
          <c:spPr>
            <a:ln w="9360">
              <a:solidFill>
                <a:srgbClr val="878787"/>
              </a:solidFill>
              <a:round/>
            </a:ln>
          </c:spPr>
        </c:majorGridlines>
        <c:numFmt formatCode="General" sourceLinked="1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800" b="0" u="none" strike="noStrik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52062757"/>
        <c:crossBetween val="between"/>
      </c:valAx>
      <c:spPr>
        <a:noFill/>
        <a:ln w="0">
          <a:noFill/>
        </a:ln>
      </c:spPr>
    </c:plotArea>
    <c:plotVisOnly val="1"/>
    <c:dispBlanksAs val="gap"/>
  </c:chart>
  <c:spPr>
    <a:noFill/>
    <a:ln w="0">
      <a:noFill/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sz="2160" b="1" u="none" strike="noStrike">
                <a:solidFill>
                  <a:srgbClr val="000000"/>
                </a:solidFill>
                <a:uFillTx/>
                <a:latin typeface="Calibri"/>
              </a:rPr>
              <a:t>Categories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pie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Categories</c:v>
                </c:pt>
              </c:strCache>
            </c:strRef>
          </c:tx>
          <c:spPr>
            <a:solidFill>
              <a:srgbClr val="4F81BD"/>
            </a:solidFill>
            <a:ln w="0">
              <a:noFill/>
            </a:ln>
          </c:spPr>
          <c:explosion val="0"/>
          <c:dPt>
            <c:idx val="0"/>
            <c:spPr>
              <a:solidFill>
                <a:srgbClr val="D4AF37"/>
              </a:solidFill>
              <a:ln w="0">
                <a:noFill/>
              </a:ln>
            </c:spPr>
          </c:dPt>
          <c:dPt>
            <c:idx val="1"/>
            <c:spPr>
              <a:solidFill>
                <a:srgbClr val="F59E0B"/>
              </a:solidFill>
              <a:ln w="0">
                <a:noFill/>
              </a:ln>
            </c:spPr>
          </c:dPt>
          <c:dPt>
            <c:idx val="2"/>
            <c:spPr>
              <a:solidFill>
                <a:srgbClr val="B8860B"/>
              </a:solidFill>
              <a:ln w="0">
                <a:noFill/>
              </a:ln>
            </c:spPr>
          </c:dPt>
          <c:dPt>
            <c:idx val="3"/>
            <c:spPr>
              <a:solidFill>
                <a:srgbClr val="926D0A"/>
              </a:solidFill>
              <a:ln w="0">
                <a:noFill/>
              </a:ln>
            </c:spPr>
          </c:dPt>
          <c:dPt>
            <c:idx val="4"/>
            <c:spPr>
              <a:solidFill>
                <a:srgbClr val="64748B"/>
              </a:solidFill>
              <a:ln w="0">
                <a:noFill/>
              </a:ln>
            </c:spPr>
          </c:dPt>
          <c:dLbls>
            <c:dLbl>
              <c:idx val="0"/>
              <c:txPr>
                <a:bodyPr wrap="none"/>
                <a:lstStyle/>
                <a:p>
                  <a:pPr>
                    <a:defRPr sz="1000" b="0" u="none" strike="noStrik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1"/>
              <c:txPr>
                <a:bodyPr wrap="none"/>
                <a:lstStyle/>
                <a:p>
                  <a:pPr>
                    <a:defRPr sz="1000" b="0" u="none" strike="noStrik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2"/>
              <c:txPr>
                <a:bodyPr wrap="none"/>
                <a:lstStyle/>
                <a:p>
                  <a:pPr>
                    <a:defRPr sz="1000" b="0" u="none" strike="noStrik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3"/>
              <c:txPr>
                <a:bodyPr wrap="none"/>
                <a:lstStyle/>
                <a:p>
                  <a:pPr>
                    <a:defRPr sz="1000" b="0" u="none" strike="noStrik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4"/>
              <c:txPr>
                <a:bodyPr wrap="none"/>
                <a:lstStyle/>
                <a:p>
                  <a:pPr>
                    <a:defRPr sz="1000" b="0" u="none" strike="noStrik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 </c:separator>
            </c:dLbl>
            <c:txPr>
              <a:bodyPr wrap="none"/>
              <a:lstStyle/>
              <a:p>
                <a:pPr>
                  <a:defRPr sz="10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leaderLines>
              <c:spPr>
                <a:ln w="0">
                  <a:solidFill>
                    <a:srgbClr val="000000"/>
                  </a:solidFill>
                </a:ln>
              </c:spPr>
            </c:leaderLines>
          </c:dLbls>
          <c:cat>
            <c:strRef>
              <c:f>categories</c:f>
              <c:strCache>
                <c:ptCount val="5"/>
                <c:pt idx="0">
                  <c:v>Tables</c:v>
                </c:pt>
                <c:pt idx="1">
                  <c:v>Text Fields</c:v>
                </c:pt>
                <c:pt idx="2">
                  <c:v>Dates</c:v>
                </c:pt>
                <c:pt idx="3">
                  <c:v>Numerical</c:v>
                </c:pt>
                <c:pt idx="4">
                  <c:v>Other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5"/>
                <c:pt idx="0">
                  <c:v>35</c:v>
                </c:pt>
                <c:pt idx="1">
                  <c:v>25</c:v>
                </c:pt>
                <c:pt idx="2">
                  <c:v>15</c:v>
                </c:pt>
                <c:pt idx="3">
                  <c:v>15</c:v>
                </c:pt>
                <c:pt idx="4">
                  <c:v>10</c:v>
                </c:pt>
              </c:numCache>
            </c:numRef>
          </c:val>
        </c:ser>
        <c:firstSliceAng val="0"/>
      </c:pieChart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sz="1000" b="0" u="none" strike="noStrike">
              <a:solidFill>
                <a:srgbClr val="CBD5E1"/>
              </a:solidFill>
              <a:uFillTx/>
              <a:latin typeface="Calibri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sz="2160" b="1" u="none" strike="noStrike">
                <a:solidFill>
                  <a:srgbClr val="000000"/>
                </a:solidFill>
                <a:uFillTx/>
                <a:latin typeface="Calibri"/>
              </a:rPr>
              <a:t>ROI %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areaChart>
        <c:grouping val="standard"/>
        <c:ser>
          <c:idx val="0"/>
          <c:order val="0"/>
          <c:tx>
            <c:strRef>
              <c:f>label 0</c:f>
              <c:strCache>
                <c:ptCount val="1"/>
                <c:pt idx="0">
                  <c:v>ROI %</c:v>
                </c:pt>
              </c:strCache>
            </c:strRef>
          </c:tx>
          <c:spPr>
            <a:solidFill>
              <a:srgbClr val="D4AF37"/>
            </a:solidFill>
            <a:ln w="12600">
              <a:solidFill>
                <a:srgbClr val="B8860B"/>
              </a:solidFill>
              <a:round/>
            </a:ln>
          </c:spPr>
          <c:dLbls>
            <c:txPr>
              <a:bodyPr wrap="square"/>
              <a:lstStyle/>
              <a:p>
                <a:pPr>
                  <a:defRPr sz="1800" b="0" u="none" strike="noStrike">
                    <a:solidFill>
                      <a:srgbClr val="000000"/>
                    </a:solidFill>
                    <a:uFillTx/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; </c:separator>
            <c:showLeaderLines val="1"/>
            <c:leaderLines>
              <c:spPr>
                <a:ln w="0">
                  <a:solidFill>
                    <a:srgbClr val="B8860B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12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Y2-Q1</c:v>
                </c:pt>
                <c:pt idx="5">
                  <c:v>Y2-Q2</c:v>
                </c:pt>
                <c:pt idx="6">
                  <c:v>Y2-Q3</c:v>
                </c:pt>
                <c:pt idx="7">
                  <c:v>Y2-Q4</c:v>
                </c:pt>
                <c:pt idx="8">
                  <c:v>Y3-Q1</c:v>
                </c:pt>
                <c:pt idx="9">
                  <c:v>Y3-Q2</c:v>
                </c:pt>
                <c:pt idx="10">
                  <c:v>Y3-Q3</c:v>
                </c:pt>
                <c:pt idx="11">
                  <c:v>Y3-Q4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12"/>
                <c:pt idx="0">
                  <c:v>40</c:v>
                </c:pt>
                <c:pt idx="1">
                  <c:v>85</c:v>
                </c:pt>
                <c:pt idx="2">
                  <c:v>140</c:v>
                </c:pt>
                <c:pt idx="3">
                  <c:v>200</c:v>
                </c:pt>
                <c:pt idx="4">
                  <c:v>270</c:v>
                </c:pt>
                <c:pt idx="5">
                  <c:v>340</c:v>
                </c:pt>
                <c:pt idx="6">
                  <c:v>410</c:v>
                </c:pt>
                <c:pt idx="7">
                  <c:v>480</c:v>
                </c:pt>
                <c:pt idx="8">
                  <c:v>540</c:v>
                </c:pt>
                <c:pt idx="9">
                  <c:v>590</c:v>
                </c:pt>
                <c:pt idx="10">
                  <c:v>640</c:v>
                </c:pt>
                <c:pt idx="11">
                  <c:v>680</c:v>
                </c:pt>
              </c:numCache>
            </c:numRef>
          </c:val>
        </c:ser>
        <c:axId val="21873810"/>
        <c:axId val="12107517"/>
      </c:areaChart>
      <c:catAx>
        <c:axId val="21873810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800" b="0" u="none" strike="noStrike">
                <a:solidFill>
                  <a:srgbClr val="334155"/>
                </a:solidFill>
                <a:uFillTx/>
                <a:latin typeface="Calibri"/>
              </a:defRPr>
            </a:pPr>
          </a:p>
        </c:txPr>
        <c:crossAx val="12107517"/>
        <c:crosses val="autoZero"/>
        <c:auto val="1"/>
        <c:lblAlgn val="ctr"/>
        <c:lblOffset val="100"/>
        <c:noMultiLvlLbl val="0"/>
      </c:catAx>
      <c:valAx>
        <c:axId val="12107517"/>
        <c:scaling>
          <c:orientation val="minMax"/>
        </c:scaling>
        <c:delete val="1"/>
        <c:axPos val="l"/>
        <c:majorGridlines>
          <c:spPr>
            <a:ln w="9360">
              <a:solidFill>
                <a:srgbClr val="878787"/>
              </a:solidFill>
              <a:round/>
            </a:ln>
          </c:spPr>
        </c:majorGridlines>
        <c:numFmt formatCode="General" sourceLinked="1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800" b="0" u="none" strike="noStrik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21873810"/>
        <c:crossBetween val="midCat"/>
      </c:valAx>
      <c:spPr>
        <a:noFill/>
        <a:ln w="0">
          <a:noFill/>
        </a:ln>
      </c:spPr>
    </c:plotArea>
    <c:plotVisOnly val="1"/>
    <c:dispBlanksAs val="zero"/>
  </c:chart>
  <c:spPr>
    <a:noFill/>
    <a:ln w="0">
      <a:noFill/>
    </a:ln>
  </c:spPr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sz="2160" b="1" u="none" strike="noStrike">
                <a:solidFill>
                  <a:srgbClr val="000000"/>
                </a:solidFill>
                <a:uFillTx/>
                <a:latin typeface="Calibri"/>
              </a:rPr>
              <a:t>Score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bar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D4AF37"/>
            </a:solidFill>
            <a:ln w="0">
              <a:noFill/>
            </a:ln>
          </c:spPr>
          <c:invertIfNegative val="0"/>
          <c:dLbls>
            <c:txPr>
              <a:bodyPr wrap="square"/>
              <a:lstStyle/>
              <a:p>
                <a:pPr>
                  <a:defRPr sz="1200" b="1" u="none" strike="noStrike">
                    <a:solidFill>
                      <a:srgbClr val="FFFFFF"/>
                    </a:solidFill>
                    <a:uFillTx/>
                    <a:latin typeface="Calibri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; </c:separator>
            <c:showLeaderLines val="1"/>
            <c:leaderLines>
              <c:spPr>
                <a:ln w="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7"/>
                <c:pt idx="0">
                  <c:v>Security</c:v>
                </c:pt>
                <c:pt idx="1">
                  <c:v>UX</c:v>
                </c:pt>
                <c:pt idx="2">
                  <c:v>UI Design</c:v>
                </c:pt>
                <c:pt idx="3">
                  <c:v>Performance</c:v>
                </c:pt>
                <c:pt idx="4">
                  <c:v>SEO</c:v>
                </c:pt>
                <c:pt idx="5">
                  <c:v>Accessibility</c:v>
                </c:pt>
                <c:pt idx="6">
                  <c:v>Code Quality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7"/>
                <c:pt idx="0">
                  <c:v>9.5</c:v>
                </c:pt>
                <c:pt idx="1">
                  <c:v>9</c:v>
                </c:pt>
                <c:pt idx="2">
                  <c:v>9.2</c:v>
                </c:pt>
                <c:pt idx="3">
                  <c:v>9.5</c:v>
                </c:pt>
                <c:pt idx="4">
                  <c:v>9.6</c:v>
                </c:pt>
                <c:pt idx="5">
                  <c:v>9.2</c:v>
                </c:pt>
                <c:pt idx="6">
                  <c:v>9.8</c:v>
                </c:pt>
              </c:numCache>
            </c:numRef>
          </c:val>
        </c:ser>
        <c:gapWidth val="150"/>
        <c:overlap val="0"/>
        <c:axId val="48732678"/>
        <c:axId val="17943187"/>
      </c:barChart>
      <c:catAx>
        <c:axId val="48732678"/>
        <c:scaling>
          <c:orientation val="minMax"/>
        </c:scaling>
        <c:delete val="0"/>
        <c:axPos val="b"/>
        <c:numFmt formatCode="[$-409]mm/dd/yyyy" sourceLinked="1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100" b="0" u="none" strike="noStrike">
                <a:solidFill>
                  <a:srgbClr val="CBD5E1"/>
                </a:solidFill>
                <a:uFillTx/>
                <a:latin typeface="Calibri"/>
              </a:defRPr>
            </a:pPr>
          </a:p>
        </c:txPr>
        <c:crossAx val="17943187"/>
        <c:crosses val="autoZero"/>
        <c:auto val="1"/>
        <c:lblAlgn val="ctr"/>
        <c:lblOffset val="100"/>
        <c:noMultiLvlLbl val="0"/>
      </c:catAx>
      <c:valAx>
        <c:axId val="17943187"/>
        <c:scaling>
          <c:orientation val="minMax"/>
          <c:max val="10"/>
        </c:scaling>
        <c:delete val="1"/>
        <c:axPos val="l"/>
        <c:majorGridlines>
          <c:spPr>
            <a:ln w="9360">
              <a:solidFill>
                <a:srgbClr val="878787"/>
              </a:solidFill>
              <a:round/>
            </a:ln>
          </c:spPr>
        </c:majorGridlines>
        <c:numFmt formatCode="General" sourceLinked="1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800" b="0" u="none" strike="noStrik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48732678"/>
        <c:crossBetween val="between"/>
      </c:valAx>
      <c:spPr>
        <a:noFill/>
        <a:ln w="0">
          <a:noFill/>
        </a:ln>
      </c:spPr>
    </c:plotArea>
    <c:plotVisOnly val="1"/>
    <c:dispBlanksAs val="gap"/>
  </c:chart>
  <c:spPr>
    <a:noFill/>
    <a:ln w="0">
      <a:noFill/>
    </a:ln>
  </c:spPr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2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3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4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5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6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0024490-8607-4924-A664-8EDD70FDF48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76F05BA-08CC-4ECF-9320-EDEB874263F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DE52FC9-2616-489C-A014-8F98F77B9D1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89FA315-E4F1-42B7-86D2-4BCF5930A10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5C3DBCB-BA9C-4FCF-9318-D5C21FDD48B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5D321B0-58A6-43E6-9DC4-FB01D955A46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D13A4E7-96B4-4DF2-856A-765E5D0D454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AB640CF-BAA0-4915-8F08-7C6E84B1CCD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AAA8673-D265-4D68-BD26-C005E2CF070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301718F-B563-498E-B8D5-75F2D07B79C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7E13D1C-444F-4290-993D-9CC33A30C81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chart" Target="../charts/chart1.xml"/><Relationship Id="rId3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chart" Target="../charts/chart2.xml"/><Relationship Id="rId3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chart" Target="../charts/chart3.xml"/><Relationship Id="rId3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chart" Target="../charts/chart4.xml"/><Relationship Id="rId3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chart" Target="../charts/chart5.xml"/><Relationship Id="rId3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chart" Target="../charts/chart6.xml"/><Relationship Id="rId3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0" y="0"/>
            <a:ext cx="12191400" cy="50400"/>
          </a:xfrm>
          <a:prstGeom prst="rect">
            <a:avLst/>
          </a:prstGeom>
          <a:solidFill>
            <a:srgbClr val="D4AF3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760" rIns="90000" bIns="57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Oval 2"/>
          <p:cNvSpPr/>
          <p:nvPr/>
        </p:nvSpPr>
        <p:spPr>
          <a:xfrm>
            <a:off x="9601200" y="914400"/>
            <a:ext cx="4571640" cy="4571640"/>
          </a:xfrm>
          <a:prstGeom prst="ellipse">
            <a:avLst/>
          </a:prstGeom>
          <a:noFill/>
          <a:ln w="25400">
            <a:solidFill>
              <a:srgbClr val="2A2A3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" name="Oval 3"/>
          <p:cNvSpPr/>
          <p:nvPr/>
        </p:nvSpPr>
        <p:spPr>
          <a:xfrm>
            <a:off x="10058400" y="1371600"/>
            <a:ext cx="3657240" cy="3657240"/>
          </a:xfrm>
          <a:prstGeom prst="ellipse">
            <a:avLst/>
          </a:prstGeom>
          <a:noFill/>
          <a:ln w="25400">
            <a:solidFill>
              <a:srgbClr val="22222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64" name="Picture 4" descr="logo.png"/>
          <p:cNvPicPr/>
          <p:nvPr/>
        </p:nvPicPr>
        <p:blipFill>
          <a:blip r:embed="rId1"/>
          <a:stretch/>
        </p:blipFill>
        <p:spPr>
          <a:xfrm>
            <a:off x="5029200" y="274320"/>
            <a:ext cx="123228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" name="TextBox 5"/>
          <p:cNvSpPr/>
          <p:nvPr/>
        </p:nvSpPr>
        <p:spPr>
          <a:xfrm>
            <a:off x="914400" y="2011680"/>
            <a:ext cx="100580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5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AVORA VENTURE</a:t>
            </a:r>
            <a:endParaRPr lang="en-US" sz="5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Rectangle 6"/>
          <p:cNvSpPr/>
          <p:nvPr/>
        </p:nvSpPr>
        <p:spPr>
          <a:xfrm>
            <a:off x="914400" y="3383280"/>
            <a:ext cx="2742840" cy="37800"/>
          </a:xfrm>
          <a:prstGeom prst="rect">
            <a:avLst/>
          </a:prstGeom>
          <a:solidFill>
            <a:srgbClr val="D4AF3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" name="TextBox 7"/>
          <p:cNvSpPr/>
          <p:nvPr/>
        </p:nvSpPr>
        <p:spPr>
          <a:xfrm>
            <a:off x="914400" y="3657600"/>
            <a:ext cx="73148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D4AF37"/>
                </a:solidFill>
                <a:effectLst/>
                <a:uFillTx/>
                <a:latin typeface="Calibri"/>
              </a:rPr>
              <a:t>Institutional AI Infrastructure &amp; Data Operations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8"/>
          <p:cNvSpPr/>
          <p:nvPr/>
        </p:nvSpPr>
        <p:spPr>
          <a:xfrm>
            <a:off x="914400" y="4389120"/>
            <a:ext cx="73148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Data generation, annotation, quality auditing, and AI implementation</a:t>
            </a:r>
            <a:br>
              <a:rPr sz="1500"/>
            </a:b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— one continuous pipeline.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9"/>
          <p:cNvSpPr/>
          <p:nvPr/>
        </p:nvSpPr>
        <p:spPr>
          <a:xfrm>
            <a:off x="914400" y="594360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avora-3kyx.vercel.app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Rectangle 10"/>
          <p:cNvSpPr/>
          <p:nvPr/>
        </p:nvSpPr>
        <p:spPr>
          <a:xfrm>
            <a:off x="0" y="6675120"/>
            <a:ext cx="12191400" cy="25200"/>
          </a:xfrm>
          <a:prstGeom prst="rect">
            <a:avLst/>
          </a:prstGeom>
          <a:solidFill>
            <a:srgbClr val="D4AF3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9440" rIns="90000" bIns="-19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1" name="TextBox 11"/>
          <p:cNvSpPr/>
          <p:nvPr/>
        </p:nvSpPr>
        <p:spPr>
          <a:xfrm>
            <a:off x="11155680" y="6400800"/>
            <a:ext cx="914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1 / 18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1" descr="logo.png"/>
          <p:cNvPicPr/>
          <p:nvPr/>
        </p:nvPicPr>
        <p:blipFill>
          <a:blip r:embed="rId1"/>
          <a:stretch/>
        </p:blipFill>
        <p:spPr>
          <a:xfrm>
            <a:off x="457200" y="274320"/>
            <a:ext cx="123228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" name="TextBox 2"/>
          <p:cNvSpPr/>
          <p:nvPr/>
        </p:nvSpPr>
        <p:spPr>
          <a:xfrm>
            <a:off x="731520" y="914400"/>
            <a:ext cx="100580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B8860B"/>
                </a:solidFill>
                <a:effectLst/>
                <a:uFillTx/>
                <a:latin typeface="Calibri"/>
              </a:rPr>
              <a:t>WHAT WE DO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Rectangle 3"/>
          <p:cNvSpPr/>
          <p:nvPr/>
        </p:nvSpPr>
        <p:spPr>
          <a:xfrm>
            <a:off x="731520" y="1645920"/>
            <a:ext cx="2285640" cy="37800"/>
          </a:xfrm>
          <a:prstGeom prst="rect">
            <a:avLst/>
          </a:prstGeom>
          <a:solidFill>
            <a:srgbClr val="D4AF3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" name="TextBox 4"/>
          <p:cNvSpPr/>
          <p:nvPr/>
        </p:nvSpPr>
        <p:spPr>
          <a:xfrm>
            <a:off x="731520" y="1920240"/>
            <a:ext cx="10058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We build the data and AI infrastructure that powers production systems</a:t>
            </a:r>
            <a:br>
              <a:rPr sz="1600"/>
            </a:br>
            <a:r>
              <a:rPr lang="en-US" sz="16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in healthcare, agriculture, retail, and pharmaceuticals.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Rounded Rectangle 5"/>
          <p:cNvSpPr/>
          <p:nvPr/>
        </p:nvSpPr>
        <p:spPr>
          <a:xfrm>
            <a:off x="731520" y="3017520"/>
            <a:ext cx="5028840" cy="1554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7" name="Rectangle 6"/>
          <p:cNvSpPr/>
          <p:nvPr/>
        </p:nvSpPr>
        <p:spPr>
          <a:xfrm>
            <a:off x="731520" y="3017520"/>
            <a:ext cx="63000" cy="1554120"/>
          </a:xfrm>
          <a:prstGeom prst="rect">
            <a:avLst/>
          </a:prstGeom>
          <a:solidFill>
            <a:srgbClr val="F59E0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" name="TextBox 7"/>
          <p:cNvSpPr/>
          <p:nvPr/>
        </p:nvSpPr>
        <p:spPr>
          <a:xfrm>
            <a:off x="1097280" y="3246120"/>
            <a:ext cx="4114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0A0A0F"/>
                </a:solidFill>
                <a:effectLst/>
                <a:uFillTx/>
                <a:latin typeface="Calibri"/>
              </a:rPr>
              <a:t>Data Generation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8"/>
          <p:cNvSpPr/>
          <p:nvPr/>
        </p:nvSpPr>
        <p:spPr>
          <a:xfrm>
            <a:off x="1097280" y="3749040"/>
            <a:ext cx="43887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Create realistic artificial data</a:t>
            </a:r>
            <a:br>
              <a:rPr sz="1300"/>
            </a:br>
            <a:r>
              <a:rPr lang="en-US" sz="13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when real data is unavailable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Rounded Rectangle 9"/>
          <p:cNvSpPr/>
          <p:nvPr/>
        </p:nvSpPr>
        <p:spPr>
          <a:xfrm>
            <a:off x="6400800" y="3017520"/>
            <a:ext cx="5028840" cy="1554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1" name="Rectangle 10"/>
          <p:cNvSpPr/>
          <p:nvPr/>
        </p:nvSpPr>
        <p:spPr>
          <a:xfrm>
            <a:off x="6400800" y="3017520"/>
            <a:ext cx="63000" cy="1554120"/>
          </a:xfrm>
          <a:prstGeom prst="rect">
            <a:avLst/>
          </a:prstGeom>
          <a:solidFill>
            <a:srgbClr val="D4AF3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2" name="TextBox 11"/>
          <p:cNvSpPr/>
          <p:nvPr/>
        </p:nvSpPr>
        <p:spPr>
          <a:xfrm>
            <a:off x="6766560" y="3246120"/>
            <a:ext cx="4114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0A0A0F"/>
                </a:solidFill>
                <a:effectLst/>
                <a:uFillTx/>
                <a:latin typeface="Calibri"/>
              </a:rPr>
              <a:t>Data Annotation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12"/>
          <p:cNvSpPr/>
          <p:nvPr/>
        </p:nvSpPr>
        <p:spPr>
          <a:xfrm>
            <a:off x="6766560" y="3749040"/>
            <a:ext cx="43887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Label data with precision so</a:t>
            </a:r>
            <a:br>
              <a:rPr sz="1300"/>
            </a:br>
            <a:r>
              <a:rPr lang="en-US" sz="13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AI models can understand it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Rounded Rectangle 13"/>
          <p:cNvSpPr/>
          <p:nvPr/>
        </p:nvSpPr>
        <p:spPr>
          <a:xfrm>
            <a:off x="731520" y="4846320"/>
            <a:ext cx="5028840" cy="1554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5" name="Rectangle 14"/>
          <p:cNvSpPr/>
          <p:nvPr/>
        </p:nvSpPr>
        <p:spPr>
          <a:xfrm>
            <a:off x="731520" y="4846320"/>
            <a:ext cx="63000" cy="1554120"/>
          </a:xfrm>
          <a:prstGeom prst="rect">
            <a:avLst/>
          </a:prstGeom>
          <a:solidFill>
            <a:srgbClr val="B8860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6" name="TextBox 15"/>
          <p:cNvSpPr/>
          <p:nvPr/>
        </p:nvSpPr>
        <p:spPr>
          <a:xfrm>
            <a:off x="1097280" y="5074920"/>
            <a:ext cx="4114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0A0A0F"/>
                </a:solidFill>
                <a:effectLst/>
                <a:uFillTx/>
                <a:latin typeface="Calibri"/>
              </a:rPr>
              <a:t>Quality Auditing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16"/>
          <p:cNvSpPr/>
          <p:nvPr/>
        </p:nvSpPr>
        <p:spPr>
          <a:xfrm>
            <a:off x="1097280" y="5577840"/>
            <a:ext cx="43887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Test datasets and models to</a:t>
            </a:r>
            <a:br>
              <a:rPr sz="1300"/>
            </a:br>
            <a:r>
              <a:rPr lang="en-US" sz="13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ensure everything works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Rounded Rectangle 17"/>
          <p:cNvSpPr/>
          <p:nvPr/>
        </p:nvSpPr>
        <p:spPr>
          <a:xfrm>
            <a:off x="6400800" y="4846320"/>
            <a:ext cx="5028840" cy="1554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9" name="Rectangle 18"/>
          <p:cNvSpPr/>
          <p:nvPr/>
        </p:nvSpPr>
        <p:spPr>
          <a:xfrm>
            <a:off x="6400800" y="4846320"/>
            <a:ext cx="63000" cy="1554120"/>
          </a:xfrm>
          <a:prstGeom prst="rect">
            <a:avLst/>
          </a:prstGeom>
          <a:solidFill>
            <a:srgbClr val="926D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0" name="TextBox 19"/>
          <p:cNvSpPr/>
          <p:nvPr/>
        </p:nvSpPr>
        <p:spPr>
          <a:xfrm>
            <a:off x="6766560" y="5074920"/>
            <a:ext cx="4114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0A0A0F"/>
                </a:solidFill>
                <a:effectLst/>
                <a:uFillTx/>
                <a:latin typeface="Calibri"/>
              </a:rPr>
              <a:t>AI Implementation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Box 20"/>
          <p:cNvSpPr/>
          <p:nvPr/>
        </p:nvSpPr>
        <p:spPr>
          <a:xfrm>
            <a:off x="6766560" y="5577840"/>
            <a:ext cx="43887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Build and launch custom AI</a:t>
            </a:r>
            <a:br>
              <a:rPr sz="1300"/>
            </a:br>
            <a:r>
              <a:rPr lang="en-US" sz="13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solutions at scale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Rectangle 21"/>
          <p:cNvSpPr/>
          <p:nvPr/>
        </p:nvSpPr>
        <p:spPr>
          <a:xfrm>
            <a:off x="0" y="6675120"/>
            <a:ext cx="12191400" cy="25200"/>
          </a:xfrm>
          <a:prstGeom prst="rect">
            <a:avLst/>
          </a:prstGeom>
          <a:solidFill>
            <a:srgbClr val="D4AF3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9440" rIns="90000" bIns="-19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3" name="TextBox 22"/>
          <p:cNvSpPr/>
          <p:nvPr/>
        </p:nvSpPr>
        <p:spPr>
          <a:xfrm>
            <a:off x="11155680" y="6400800"/>
            <a:ext cx="914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2 / 18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Picture 1" descr="logo.png"/>
          <p:cNvPicPr/>
          <p:nvPr/>
        </p:nvPicPr>
        <p:blipFill>
          <a:blip r:embed="rId1"/>
          <a:stretch/>
        </p:blipFill>
        <p:spPr>
          <a:xfrm>
            <a:off x="457200" y="274320"/>
            <a:ext cx="123228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" name="TextBox 2"/>
          <p:cNvSpPr/>
          <p:nvPr/>
        </p:nvSpPr>
        <p:spPr>
          <a:xfrm>
            <a:off x="731520" y="914400"/>
            <a:ext cx="100580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D4AF37"/>
                </a:solidFill>
                <a:effectLst/>
                <a:uFillTx/>
                <a:latin typeface="Calibri"/>
              </a:rPr>
              <a:t>BY THE NUMBERS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Rectangle 3"/>
          <p:cNvSpPr/>
          <p:nvPr/>
        </p:nvSpPr>
        <p:spPr>
          <a:xfrm>
            <a:off x="731520" y="1645920"/>
            <a:ext cx="2285640" cy="37800"/>
          </a:xfrm>
          <a:prstGeom prst="rect">
            <a:avLst/>
          </a:prstGeom>
          <a:solidFill>
            <a:srgbClr val="D4AF3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7" name="Rounded Rectangle 4"/>
          <p:cNvSpPr/>
          <p:nvPr/>
        </p:nvSpPr>
        <p:spPr>
          <a:xfrm>
            <a:off x="548640" y="2286000"/>
            <a:ext cx="2559960" cy="3200040"/>
          </a:xfrm>
          <a:prstGeom prst="roundRect">
            <a:avLst>
              <a:gd name="adj" fmla="val 16667"/>
            </a:avLst>
          </a:prstGeom>
          <a:solidFill>
            <a:srgbClr val="121218"/>
          </a:solidFill>
          <a:ln w="12700">
            <a:solidFill>
              <a:srgbClr val="2A2A3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8" name="TextBox 5"/>
          <p:cNvSpPr/>
          <p:nvPr/>
        </p:nvSpPr>
        <p:spPr>
          <a:xfrm>
            <a:off x="548640" y="2743200"/>
            <a:ext cx="25599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5600" b="1" u="none" strike="noStrike">
                <a:solidFill>
                  <a:srgbClr val="D4AF37"/>
                </a:solidFill>
                <a:effectLst/>
                <a:uFillTx/>
                <a:latin typeface="Calibri"/>
              </a:rPr>
              <a:t>12+</a:t>
            </a:r>
            <a:endParaRPr lang="en-US" sz="5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Rectangle 6"/>
          <p:cNvSpPr/>
          <p:nvPr/>
        </p:nvSpPr>
        <p:spPr>
          <a:xfrm>
            <a:off x="1280160" y="3931920"/>
            <a:ext cx="1096920" cy="25200"/>
          </a:xfrm>
          <a:prstGeom prst="rect">
            <a:avLst/>
          </a:prstGeom>
          <a:solidFill>
            <a:srgbClr val="D4AF3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9440" rIns="90000" bIns="-19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0" name="TextBox 7"/>
          <p:cNvSpPr/>
          <p:nvPr/>
        </p:nvSpPr>
        <p:spPr>
          <a:xfrm>
            <a:off x="548640" y="4206240"/>
            <a:ext cx="25599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420"/>
              </a:spcAft>
            </a:pPr>
            <a:r>
              <a:rPr lang="en-US" sz="14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Markets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420"/>
              </a:spcAft>
            </a:pPr>
            <a:r>
              <a:rPr lang="en-US" sz="14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Scaled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Rounded Rectangle 8"/>
          <p:cNvSpPr/>
          <p:nvPr/>
        </p:nvSpPr>
        <p:spPr>
          <a:xfrm>
            <a:off x="3429000" y="2286000"/>
            <a:ext cx="2559960" cy="3200040"/>
          </a:xfrm>
          <a:prstGeom prst="roundRect">
            <a:avLst>
              <a:gd name="adj" fmla="val 16667"/>
            </a:avLst>
          </a:prstGeom>
          <a:solidFill>
            <a:srgbClr val="121218"/>
          </a:solidFill>
          <a:ln w="12700">
            <a:solidFill>
              <a:srgbClr val="2A2A3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" name="TextBox 9"/>
          <p:cNvSpPr/>
          <p:nvPr/>
        </p:nvSpPr>
        <p:spPr>
          <a:xfrm>
            <a:off x="3429000" y="2743200"/>
            <a:ext cx="25599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5600" b="1" u="none" strike="noStrike">
                <a:solidFill>
                  <a:srgbClr val="F59E0B"/>
                </a:solidFill>
                <a:effectLst/>
                <a:uFillTx/>
                <a:latin typeface="Calibri"/>
              </a:rPr>
              <a:t>95%</a:t>
            </a:r>
            <a:endParaRPr lang="en-US" sz="5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Rectangle 10"/>
          <p:cNvSpPr/>
          <p:nvPr/>
        </p:nvSpPr>
        <p:spPr>
          <a:xfrm>
            <a:off x="4160520" y="3931920"/>
            <a:ext cx="1096920" cy="25200"/>
          </a:xfrm>
          <a:prstGeom prst="rect">
            <a:avLst/>
          </a:prstGeom>
          <a:solidFill>
            <a:srgbClr val="F59E0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9440" rIns="90000" bIns="-19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4" name="TextBox 11"/>
          <p:cNvSpPr/>
          <p:nvPr/>
        </p:nvSpPr>
        <p:spPr>
          <a:xfrm>
            <a:off x="3429000" y="4206240"/>
            <a:ext cx="25599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420"/>
              </a:spcAft>
            </a:pPr>
            <a:r>
              <a:rPr lang="en-US" sz="14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Enterprise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420"/>
              </a:spcAft>
            </a:pPr>
            <a:r>
              <a:rPr lang="en-US" sz="14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Retention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Rounded Rectangle 12"/>
          <p:cNvSpPr/>
          <p:nvPr/>
        </p:nvSpPr>
        <p:spPr>
          <a:xfrm>
            <a:off x="6309360" y="2286000"/>
            <a:ext cx="2559960" cy="3200040"/>
          </a:xfrm>
          <a:prstGeom prst="roundRect">
            <a:avLst>
              <a:gd name="adj" fmla="val 16667"/>
            </a:avLst>
          </a:prstGeom>
          <a:solidFill>
            <a:srgbClr val="121218"/>
          </a:solidFill>
          <a:ln w="12700">
            <a:solidFill>
              <a:srgbClr val="2A2A3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6" name="TextBox 13"/>
          <p:cNvSpPr/>
          <p:nvPr/>
        </p:nvSpPr>
        <p:spPr>
          <a:xfrm>
            <a:off x="6309360" y="2743200"/>
            <a:ext cx="25599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5600" b="1" u="none" strike="noStrike">
                <a:solidFill>
                  <a:srgbClr val="D4AF37"/>
                </a:solidFill>
                <a:effectLst/>
                <a:uFillTx/>
                <a:latin typeface="Calibri"/>
              </a:rPr>
              <a:t>50+</a:t>
            </a:r>
            <a:endParaRPr lang="en-US" sz="5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Rectangle 14"/>
          <p:cNvSpPr/>
          <p:nvPr/>
        </p:nvSpPr>
        <p:spPr>
          <a:xfrm>
            <a:off x="7040880" y="3931920"/>
            <a:ext cx="1096920" cy="25200"/>
          </a:xfrm>
          <a:prstGeom prst="rect">
            <a:avLst/>
          </a:prstGeom>
          <a:solidFill>
            <a:srgbClr val="D4AF3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9440" rIns="90000" bIns="-19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8" name="TextBox 15"/>
          <p:cNvSpPr/>
          <p:nvPr/>
        </p:nvSpPr>
        <p:spPr>
          <a:xfrm>
            <a:off x="6309360" y="4206240"/>
            <a:ext cx="25599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420"/>
              </a:spcAft>
            </a:pPr>
            <a:r>
              <a:rPr lang="en-US" sz="14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Systems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420"/>
              </a:spcAft>
            </a:pPr>
            <a:r>
              <a:rPr lang="en-US" sz="14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Deployed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Rounded Rectangle 16"/>
          <p:cNvSpPr/>
          <p:nvPr/>
        </p:nvSpPr>
        <p:spPr>
          <a:xfrm>
            <a:off x="9189720" y="2286000"/>
            <a:ext cx="2559960" cy="3200040"/>
          </a:xfrm>
          <a:prstGeom prst="roundRect">
            <a:avLst>
              <a:gd name="adj" fmla="val 16667"/>
            </a:avLst>
          </a:prstGeom>
          <a:solidFill>
            <a:srgbClr val="121218"/>
          </a:solidFill>
          <a:ln w="12700">
            <a:solidFill>
              <a:srgbClr val="2A2A3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0" name="TextBox 17"/>
          <p:cNvSpPr/>
          <p:nvPr/>
        </p:nvSpPr>
        <p:spPr>
          <a:xfrm>
            <a:off x="9189720" y="2743200"/>
            <a:ext cx="25599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5600" b="1" u="none" strike="noStrike">
                <a:solidFill>
                  <a:srgbClr val="F59E0B"/>
                </a:solidFill>
                <a:effectLst/>
                <a:uFillTx/>
                <a:latin typeface="Calibri"/>
              </a:rPr>
              <a:t>3x</a:t>
            </a:r>
            <a:endParaRPr lang="en-US" sz="5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Rectangle 18"/>
          <p:cNvSpPr/>
          <p:nvPr/>
        </p:nvSpPr>
        <p:spPr>
          <a:xfrm>
            <a:off x="9921240" y="3931920"/>
            <a:ext cx="1096920" cy="25200"/>
          </a:xfrm>
          <a:prstGeom prst="rect">
            <a:avLst/>
          </a:prstGeom>
          <a:solidFill>
            <a:srgbClr val="F59E0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9440" rIns="90000" bIns="-19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2" name="TextBox 19"/>
          <p:cNvSpPr/>
          <p:nvPr/>
        </p:nvSpPr>
        <p:spPr>
          <a:xfrm>
            <a:off x="9189720" y="4206240"/>
            <a:ext cx="25599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420"/>
              </a:spcAft>
            </a:pPr>
            <a:r>
              <a:rPr lang="en-US" sz="14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Accelerated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420"/>
              </a:spcAft>
            </a:pPr>
            <a:r>
              <a:rPr lang="en-US" sz="14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Delivery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Rectangle 20"/>
          <p:cNvSpPr/>
          <p:nvPr/>
        </p:nvSpPr>
        <p:spPr>
          <a:xfrm>
            <a:off x="0" y="6675120"/>
            <a:ext cx="12191400" cy="25200"/>
          </a:xfrm>
          <a:prstGeom prst="rect">
            <a:avLst/>
          </a:prstGeom>
          <a:solidFill>
            <a:srgbClr val="D4AF3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9440" rIns="90000" bIns="-19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4" name="TextBox 21"/>
          <p:cNvSpPr/>
          <p:nvPr/>
        </p:nvSpPr>
        <p:spPr>
          <a:xfrm>
            <a:off x="11155680" y="6400800"/>
            <a:ext cx="914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3 / 18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Picture 1" descr="logo.png"/>
          <p:cNvPicPr/>
          <p:nvPr/>
        </p:nvPicPr>
        <p:blipFill>
          <a:blip r:embed="rId1"/>
          <a:stretch/>
        </p:blipFill>
        <p:spPr>
          <a:xfrm>
            <a:off x="457200" y="274320"/>
            <a:ext cx="123228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" name="TextBox 2"/>
          <p:cNvSpPr/>
          <p:nvPr/>
        </p:nvSpPr>
        <p:spPr>
          <a:xfrm>
            <a:off x="731520" y="914400"/>
            <a:ext cx="100580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B8860B"/>
                </a:solidFill>
                <a:effectLst/>
                <a:uFillTx/>
                <a:latin typeface="Calibri"/>
              </a:rPr>
              <a:t>OUR PIPELINE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Rectangle 3"/>
          <p:cNvSpPr/>
          <p:nvPr/>
        </p:nvSpPr>
        <p:spPr>
          <a:xfrm>
            <a:off x="731520" y="1645920"/>
            <a:ext cx="2285640" cy="37800"/>
          </a:xfrm>
          <a:prstGeom prst="rect">
            <a:avLst/>
          </a:prstGeom>
          <a:solidFill>
            <a:srgbClr val="D4AF3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8" name="TextBox 4"/>
          <p:cNvSpPr/>
          <p:nvPr/>
        </p:nvSpPr>
        <p:spPr>
          <a:xfrm>
            <a:off x="731520" y="1920240"/>
            <a:ext cx="10058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Four stages. One continuous, auditable pipeline from raw data to deployed AI.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Rounded Rectangle 5"/>
          <p:cNvSpPr/>
          <p:nvPr/>
        </p:nvSpPr>
        <p:spPr>
          <a:xfrm>
            <a:off x="548640" y="2743200"/>
            <a:ext cx="2285640" cy="2925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0" name="Oval 6"/>
          <p:cNvSpPr/>
          <p:nvPr/>
        </p:nvSpPr>
        <p:spPr>
          <a:xfrm>
            <a:off x="1325880" y="3017520"/>
            <a:ext cx="731160" cy="731160"/>
          </a:xfrm>
          <a:prstGeom prst="ellipse">
            <a:avLst/>
          </a:prstGeom>
          <a:solidFill>
            <a:srgbClr val="F59E0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1" name="TextBox 7"/>
          <p:cNvSpPr/>
          <p:nvPr/>
        </p:nvSpPr>
        <p:spPr>
          <a:xfrm>
            <a:off x="1325880" y="3017520"/>
            <a:ext cx="7311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01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Box 8"/>
          <p:cNvSpPr/>
          <p:nvPr/>
        </p:nvSpPr>
        <p:spPr>
          <a:xfrm>
            <a:off x="685800" y="3931920"/>
            <a:ext cx="20113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139"/>
              </a:spcAft>
            </a:pPr>
            <a:r>
              <a:rPr lang="en-US" sz="1400" b="1" u="none" strike="noStrike">
                <a:solidFill>
                  <a:srgbClr val="0A0A0F"/>
                </a:solidFill>
                <a:effectLst/>
                <a:uFillTx/>
                <a:latin typeface="Calibri"/>
              </a:rPr>
              <a:t>DATA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139"/>
              </a:spcAft>
            </a:pPr>
            <a:r>
              <a:rPr lang="en-US" sz="1400" b="1" u="none" strike="noStrike">
                <a:solidFill>
                  <a:srgbClr val="0A0A0F"/>
                </a:solidFill>
                <a:effectLst/>
                <a:uFillTx/>
                <a:latin typeface="Calibri"/>
              </a:rPr>
              <a:t>GENERATION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Box 9"/>
          <p:cNvSpPr/>
          <p:nvPr/>
        </p:nvSpPr>
        <p:spPr>
          <a:xfrm>
            <a:off x="685800" y="4754880"/>
            <a:ext cx="20113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218"/>
              </a:spcAft>
            </a:pPr>
            <a:r>
              <a:rPr lang="en-US" sz="11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Create realistic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218"/>
              </a:spcAft>
            </a:pPr>
            <a:r>
              <a:rPr lang="en-US" sz="11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training data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Box 10"/>
          <p:cNvSpPr/>
          <p:nvPr/>
        </p:nvSpPr>
        <p:spPr>
          <a:xfrm>
            <a:off x="2880360" y="384048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D4AF37"/>
                </a:solidFill>
                <a:effectLst/>
                <a:uFillTx/>
                <a:latin typeface="Calibri"/>
              </a:rPr>
              <a:t>→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Rounded Rectangle 11"/>
          <p:cNvSpPr/>
          <p:nvPr/>
        </p:nvSpPr>
        <p:spPr>
          <a:xfrm>
            <a:off x="3383280" y="2743200"/>
            <a:ext cx="2285640" cy="2925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6" name="Oval 12"/>
          <p:cNvSpPr/>
          <p:nvPr/>
        </p:nvSpPr>
        <p:spPr>
          <a:xfrm>
            <a:off x="4160520" y="3017520"/>
            <a:ext cx="731160" cy="731160"/>
          </a:xfrm>
          <a:prstGeom prst="ellipse">
            <a:avLst/>
          </a:prstGeom>
          <a:solidFill>
            <a:srgbClr val="D4AF3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7" name="TextBox 13"/>
          <p:cNvSpPr/>
          <p:nvPr/>
        </p:nvSpPr>
        <p:spPr>
          <a:xfrm>
            <a:off x="4160520" y="3017520"/>
            <a:ext cx="7311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02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Box 14"/>
          <p:cNvSpPr/>
          <p:nvPr/>
        </p:nvSpPr>
        <p:spPr>
          <a:xfrm>
            <a:off x="3520440" y="3931920"/>
            <a:ext cx="20113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139"/>
              </a:spcAft>
            </a:pPr>
            <a:r>
              <a:rPr lang="en-US" sz="1400" b="1" u="none" strike="noStrike">
                <a:solidFill>
                  <a:srgbClr val="0A0A0F"/>
                </a:solidFill>
                <a:effectLst/>
                <a:uFillTx/>
                <a:latin typeface="Calibri"/>
              </a:rPr>
              <a:t>DATA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139"/>
              </a:spcAft>
            </a:pPr>
            <a:r>
              <a:rPr lang="en-US" sz="1400" b="1" u="none" strike="noStrike">
                <a:solidFill>
                  <a:srgbClr val="0A0A0F"/>
                </a:solidFill>
                <a:effectLst/>
                <a:uFillTx/>
                <a:latin typeface="Calibri"/>
              </a:rPr>
              <a:t>ANNOTATION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Box 15"/>
          <p:cNvSpPr/>
          <p:nvPr/>
        </p:nvSpPr>
        <p:spPr>
          <a:xfrm>
            <a:off x="3520440" y="4754880"/>
            <a:ext cx="20113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218"/>
              </a:spcAft>
            </a:pPr>
            <a:r>
              <a:rPr lang="en-US" sz="11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Label with precision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218"/>
              </a:spcAft>
            </a:pPr>
            <a:r>
              <a:rPr lang="en-US" sz="11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and accuracy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Box 16"/>
          <p:cNvSpPr/>
          <p:nvPr/>
        </p:nvSpPr>
        <p:spPr>
          <a:xfrm>
            <a:off x="5715000" y="384048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D4AF37"/>
                </a:solidFill>
                <a:effectLst/>
                <a:uFillTx/>
                <a:latin typeface="Calibri"/>
              </a:rPr>
              <a:t>→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Rounded Rectangle 17"/>
          <p:cNvSpPr/>
          <p:nvPr/>
        </p:nvSpPr>
        <p:spPr>
          <a:xfrm>
            <a:off x="6217920" y="2743200"/>
            <a:ext cx="2285640" cy="2925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2" name="Oval 18"/>
          <p:cNvSpPr/>
          <p:nvPr/>
        </p:nvSpPr>
        <p:spPr>
          <a:xfrm>
            <a:off x="6995160" y="3017520"/>
            <a:ext cx="731160" cy="731160"/>
          </a:xfrm>
          <a:prstGeom prst="ellipse">
            <a:avLst/>
          </a:prstGeom>
          <a:solidFill>
            <a:srgbClr val="B8860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3" name="TextBox 19"/>
          <p:cNvSpPr/>
          <p:nvPr/>
        </p:nvSpPr>
        <p:spPr>
          <a:xfrm>
            <a:off x="6995160" y="3017520"/>
            <a:ext cx="7311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03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Box 20"/>
          <p:cNvSpPr/>
          <p:nvPr/>
        </p:nvSpPr>
        <p:spPr>
          <a:xfrm>
            <a:off x="6355080" y="3931920"/>
            <a:ext cx="20113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139"/>
              </a:spcAft>
            </a:pPr>
            <a:r>
              <a:rPr lang="en-US" sz="1400" b="1" u="none" strike="noStrike">
                <a:solidFill>
                  <a:srgbClr val="0A0A0F"/>
                </a:solidFill>
                <a:effectLst/>
                <a:uFillTx/>
                <a:latin typeface="Calibri"/>
              </a:rPr>
              <a:t>QUALITY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139"/>
              </a:spcAft>
            </a:pPr>
            <a:r>
              <a:rPr lang="en-US" sz="1400" b="1" u="none" strike="noStrike">
                <a:solidFill>
                  <a:srgbClr val="0A0A0F"/>
                </a:solidFill>
                <a:effectLst/>
                <a:uFillTx/>
                <a:latin typeface="Calibri"/>
              </a:rPr>
              <a:t>AUDITING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Box 21"/>
          <p:cNvSpPr/>
          <p:nvPr/>
        </p:nvSpPr>
        <p:spPr>
          <a:xfrm>
            <a:off x="6355080" y="4754880"/>
            <a:ext cx="20113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218"/>
              </a:spcAft>
            </a:pPr>
            <a:r>
              <a:rPr lang="en-US" sz="11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Test and validate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218"/>
              </a:spcAft>
            </a:pPr>
            <a:r>
              <a:rPr lang="en-US" sz="11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at every step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Box 22"/>
          <p:cNvSpPr/>
          <p:nvPr/>
        </p:nvSpPr>
        <p:spPr>
          <a:xfrm>
            <a:off x="8549640" y="384048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D4AF37"/>
                </a:solidFill>
                <a:effectLst/>
                <a:uFillTx/>
                <a:latin typeface="Calibri"/>
              </a:rPr>
              <a:t>→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Rounded Rectangle 23"/>
          <p:cNvSpPr/>
          <p:nvPr/>
        </p:nvSpPr>
        <p:spPr>
          <a:xfrm>
            <a:off x="9052560" y="2743200"/>
            <a:ext cx="2285640" cy="2925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8" name="Oval 24"/>
          <p:cNvSpPr/>
          <p:nvPr/>
        </p:nvSpPr>
        <p:spPr>
          <a:xfrm>
            <a:off x="9829800" y="3017520"/>
            <a:ext cx="731160" cy="731160"/>
          </a:xfrm>
          <a:prstGeom prst="ellipse">
            <a:avLst/>
          </a:prstGeom>
          <a:solidFill>
            <a:srgbClr val="926D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9" name="TextBox 25"/>
          <p:cNvSpPr/>
          <p:nvPr/>
        </p:nvSpPr>
        <p:spPr>
          <a:xfrm>
            <a:off x="9829800" y="3017520"/>
            <a:ext cx="7311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04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Box 26"/>
          <p:cNvSpPr/>
          <p:nvPr/>
        </p:nvSpPr>
        <p:spPr>
          <a:xfrm>
            <a:off x="9189720" y="3931920"/>
            <a:ext cx="20113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139"/>
              </a:spcAft>
            </a:pPr>
            <a:r>
              <a:rPr lang="en-US" sz="1400" b="1" u="none" strike="noStrike">
                <a:solidFill>
                  <a:srgbClr val="0A0A0F"/>
                </a:solidFill>
                <a:effectLst/>
                <a:uFillTx/>
                <a:latin typeface="Calibri"/>
              </a:rPr>
              <a:t>AI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139"/>
              </a:spcAft>
            </a:pPr>
            <a:r>
              <a:rPr lang="en-US" sz="1400" b="1" u="none" strike="noStrike">
                <a:solidFill>
                  <a:srgbClr val="0A0A0F"/>
                </a:solidFill>
                <a:effectLst/>
                <a:uFillTx/>
                <a:latin typeface="Calibri"/>
              </a:rPr>
              <a:t>IMPLEMENTATION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Box 27"/>
          <p:cNvSpPr/>
          <p:nvPr/>
        </p:nvSpPr>
        <p:spPr>
          <a:xfrm>
            <a:off x="9189720" y="4754880"/>
            <a:ext cx="20113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218"/>
              </a:spcAft>
            </a:pPr>
            <a:r>
              <a:rPr lang="en-US" sz="11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Deploy and monitor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218"/>
              </a:spcAft>
            </a:pPr>
            <a:r>
              <a:rPr lang="en-US" sz="11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at production scale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Rectangle 28"/>
          <p:cNvSpPr/>
          <p:nvPr/>
        </p:nvSpPr>
        <p:spPr>
          <a:xfrm>
            <a:off x="0" y="6675120"/>
            <a:ext cx="12191400" cy="25200"/>
          </a:xfrm>
          <a:prstGeom prst="rect">
            <a:avLst/>
          </a:prstGeom>
          <a:solidFill>
            <a:srgbClr val="D4AF3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9440" rIns="90000" bIns="-19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3" name="TextBox 29"/>
          <p:cNvSpPr/>
          <p:nvPr/>
        </p:nvSpPr>
        <p:spPr>
          <a:xfrm>
            <a:off x="11155680" y="6400800"/>
            <a:ext cx="914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4 / 18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Picture 1" descr="logo.png"/>
          <p:cNvPicPr/>
          <p:nvPr/>
        </p:nvPicPr>
        <p:blipFill>
          <a:blip r:embed="rId1"/>
          <a:stretch/>
        </p:blipFill>
        <p:spPr>
          <a:xfrm>
            <a:off x="457200" y="274320"/>
            <a:ext cx="123228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5" name="TextBox 2"/>
          <p:cNvSpPr/>
          <p:nvPr/>
        </p:nvSpPr>
        <p:spPr>
          <a:xfrm>
            <a:off x="731520" y="914400"/>
            <a:ext cx="100580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D4AF37"/>
                </a:solidFill>
                <a:effectLst/>
                <a:uFillTx/>
                <a:latin typeface="Calibri"/>
              </a:rPr>
              <a:t>DATA ANNOTATION &amp; LABELLING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Rectangle 3"/>
          <p:cNvSpPr/>
          <p:nvPr/>
        </p:nvSpPr>
        <p:spPr>
          <a:xfrm>
            <a:off x="731520" y="1645920"/>
            <a:ext cx="2285640" cy="37800"/>
          </a:xfrm>
          <a:prstGeom prst="rect">
            <a:avLst/>
          </a:prstGeom>
          <a:solidFill>
            <a:srgbClr val="D4AF3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7" name="TextBox 4"/>
          <p:cNvSpPr/>
          <p:nvPr/>
        </p:nvSpPr>
        <p:spPr>
          <a:xfrm>
            <a:off x="731520" y="2011680"/>
            <a:ext cx="502884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51"/>
              </a:spcAft>
            </a:pP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We carefully label your data so that AI models can easily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51"/>
              </a:spcAft>
            </a:pP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understand it. Our mix of smart tools and human experts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51"/>
              </a:spcAft>
            </a:pP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ensures high accuracy at any scale.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Box 5"/>
          <p:cNvSpPr/>
          <p:nvPr/>
        </p:nvSpPr>
        <p:spPr>
          <a:xfrm>
            <a:off x="731520" y="3840480"/>
            <a:ext cx="50288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49"/>
              </a:spcAft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We use AI to speed up the first pass of labeling,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49"/>
              </a:spcAft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and then our expert team double-checks everything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49"/>
              </a:spcAft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to guarantee top-tier quality.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Rounded Rectangle 6"/>
          <p:cNvSpPr/>
          <p:nvPr/>
        </p:nvSpPr>
        <p:spPr>
          <a:xfrm>
            <a:off x="6400800" y="2011680"/>
            <a:ext cx="2559960" cy="1828440"/>
          </a:xfrm>
          <a:prstGeom prst="roundRect">
            <a:avLst>
              <a:gd name="adj" fmla="val 16667"/>
            </a:avLst>
          </a:prstGeom>
          <a:solidFill>
            <a:srgbClr val="121218"/>
          </a:solidFill>
          <a:ln w="12700">
            <a:solidFill>
              <a:srgbClr val="2A2A3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0" name="TextBox 7"/>
          <p:cNvSpPr/>
          <p:nvPr/>
        </p:nvSpPr>
        <p:spPr>
          <a:xfrm>
            <a:off x="6400800" y="2103120"/>
            <a:ext cx="2559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BEFORE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Box 8"/>
          <p:cNvSpPr/>
          <p:nvPr/>
        </p:nvSpPr>
        <p:spPr>
          <a:xfrm>
            <a:off x="6583680" y="2468880"/>
            <a:ext cx="219420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39"/>
              </a:spcAft>
            </a:pPr>
            <a:r>
              <a:rPr lang="en-US" sz="11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Raw images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39"/>
              </a:spcAft>
            </a:pPr>
            <a:r>
              <a:rPr lang="en-US" sz="11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Unstructured text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39"/>
              </a:spcAft>
            </a:pPr>
            <a:r>
              <a:rPr lang="en-US" sz="11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Sensor streams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39"/>
              </a:spcAft>
            </a:pPr>
            <a:r>
              <a:rPr lang="en-US" sz="11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No labels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Box 9"/>
          <p:cNvSpPr/>
          <p:nvPr/>
        </p:nvSpPr>
        <p:spPr>
          <a:xfrm>
            <a:off x="8961120" y="256032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D4AF37"/>
                </a:solidFill>
                <a:effectLst/>
                <a:uFillTx/>
                <a:latin typeface="Calibri"/>
              </a:rPr>
              <a:t>→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Rounded Rectangle 10"/>
          <p:cNvSpPr/>
          <p:nvPr/>
        </p:nvSpPr>
        <p:spPr>
          <a:xfrm>
            <a:off x="9418320" y="2011680"/>
            <a:ext cx="2559960" cy="1828440"/>
          </a:xfrm>
          <a:prstGeom prst="roundRect">
            <a:avLst>
              <a:gd name="adj" fmla="val 16667"/>
            </a:avLst>
          </a:prstGeom>
          <a:solidFill>
            <a:srgbClr val="121218"/>
          </a:solidFill>
          <a:ln w="12700">
            <a:solidFill>
              <a:srgbClr val="D4AF3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4" name="TextBox 11"/>
          <p:cNvSpPr/>
          <p:nvPr/>
        </p:nvSpPr>
        <p:spPr>
          <a:xfrm>
            <a:off x="9418320" y="2103120"/>
            <a:ext cx="2559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D4AF37"/>
                </a:solidFill>
                <a:effectLst/>
                <a:uFillTx/>
                <a:latin typeface="Calibri"/>
              </a:rPr>
              <a:t>AFTER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Box 12"/>
          <p:cNvSpPr/>
          <p:nvPr/>
        </p:nvSpPr>
        <p:spPr>
          <a:xfrm>
            <a:off x="9601200" y="2468880"/>
            <a:ext cx="219420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39"/>
              </a:spcAft>
            </a:pPr>
            <a:r>
              <a:rPr lang="en-US" sz="11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Labeled images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39"/>
              </a:spcAft>
            </a:pPr>
            <a:r>
              <a:rPr lang="en-US" sz="11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Tagged text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39"/>
              </a:spcAft>
            </a:pPr>
            <a:r>
              <a:rPr lang="en-US" sz="11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Classified signals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39"/>
              </a:spcAft>
            </a:pPr>
            <a:r>
              <a:rPr lang="en-US" sz="11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Training-ready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Rounded Rectangle 13"/>
          <p:cNvSpPr/>
          <p:nvPr/>
        </p:nvSpPr>
        <p:spPr>
          <a:xfrm>
            <a:off x="731520" y="5303520"/>
            <a:ext cx="2559960" cy="1096920"/>
          </a:xfrm>
          <a:prstGeom prst="roundRect">
            <a:avLst>
              <a:gd name="adj" fmla="val 16667"/>
            </a:avLst>
          </a:prstGeom>
          <a:solidFill>
            <a:srgbClr val="121218"/>
          </a:solidFill>
          <a:ln w="12700">
            <a:solidFill>
              <a:srgbClr val="2A2A3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7" name="TextBox 14"/>
          <p:cNvSpPr/>
          <p:nvPr/>
        </p:nvSpPr>
        <p:spPr>
          <a:xfrm>
            <a:off x="914400" y="5440680"/>
            <a:ext cx="2194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D4AF37"/>
                </a:solidFill>
                <a:effectLst/>
                <a:uFillTx/>
                <a:latin typeface="Calibri"/>
              </a:rPr>
              <a:t>AI Pre-labeling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Box 15"/>
          <p:cNvSpPr/>
          <p:nvPr/>
        </p:nvSpPr>
        <p:spPr>
          <a:xfrm>
            <a:off x="914400" y="5852160"/>
            <a:ext cx="2194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First pass automated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Rounded Rectangle 16"/>
          <p:cNvSpPr/>
          <p:nvPr/>
        </p:nvSpPr>
        <p:spPr>
          <a:xfrm>
            <a:off x="3611880" y="5303520"/>
            <a:ext cx="2559960" cy="1096920"/>
          </a:xfrm>
          <a:prstGeom prst="roundRect">
            <a:avLst>
              <a:gd name="adj" fmla="val 16667"/>
            </a:avLst>
          </a:prstGeom>
          <a:solidFill>
            <a:srgbClr val="121218"/>
          </a:solidFill>
          <a:ln w="12700">
            <a:solidFill>
              <a:srgbClr val="2A2A3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0" name="TextBox 17"/>
          <p:cNvSpPr/>
          <p:nvPr/>
        </p:nvSpPr>
        <p:spPr>
          <a:xfrm>
            <a:off x="3794760" y="5440680"/>
            <a:ext cx="2194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D4AF37"/>
                </a:solidFill>
                <a:effectLst/>
                <a:uFillTx/>
                <a:latin typeface="Calibri"/>
              </a:rPr>
              <a:t>Expert Review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Box 18"/>
          <p:cNvSpPr/>
          <p:nvPr/>
        </p:nvSpPr>
        <p:spPr>
          <a:xfrm>
            <a:off x="3794760" y="5852160"/>
            <a:ext cx="2194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Human verification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Rounded Rectangle 19"/>
          <p:cNvSpPr/>
          <p:nvPr/>
        </p:nvSpPr>
        <p:spPr>
          <a:xfrm>
            <a:off x="6492240" y="5303520"/>
            <a:ext cx="2559960" cy="1096920"/>
          </a:xfrm>
          <a:prstGeom prst="roundRect">
            <a:avLst>
              <a:gd name="adj" fmla="val 16667"/>
            </a:avLst>
          </a:prstGeom>
          <a:solidFill>
            <a:srgbClr val="121218"/>
          </a:solidFill>
          <a:ln w="12700">
            <a:solidFill>
              <a:srgbClr val="2A2A3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3" name="TextBox 20"/>
          <p:cNvSpPr/>
          <p:nvPr/>
        </p:nvSpPr>
        <p:spPr>
          <a:xfrm>
            <a:off x="6675120" y="5440680"/>
            <a:ext cx="2194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D4AF37"/>
                </a:solidFill>
                <a:effectLst/>
                <a:uFillTx/>
                <a:latin typeface="Calibri"/>
              </a:rPr>
              <a:t>Kappa &gt; 0.85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Box 21"/>
          <p:cNvSpPr/>
          <p:nvPr/>
        </p:nvSpPr>
        <p:spPr>
          <a:xfrm>
            <a:off x="6675120" y="5852160"/>
            <a:ext cx="2194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Agreement standard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Rounded Rectangle 22"/>
          <p:cNvSpPr/>
          <p:nvPr/>
        </p:nvSpPr>
        <p:spPr>
          <a:xfrm>
            <a:off x="9372600" y="5303520"/>
            <a:ext cx="2559960" cy="1096920"/>
          </a:xfrm>
          <a:prstGeom prst="roundRect">
            <a:avLst>
              <a:gd name="adj" fmla="val 16667"/>
            </a:avLst>
          </a:prstGeom>
          <a:solidFill>
            <a:srgbClr val="121218"/>
          </a:solidFill>
          <a:ln w="12700">
            <a:solidFill>
              <a:srgbClr val="2A2A3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6" name="TextBox 23"/>
          <p:cNvSpPr/>
          <p:nvPr/>
        </p:nvSpPr>
        <p:spPr>
          <a:xfrm>
            <a:off x="9555480" y="5440680"/>
            <a:ext cx="2194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D4AF37"/>
                </a:solidFill>
                <a:effectLst/>
                <a:uFillTx/>
                <a:latin typeface="Calibri"/>
              </a:rPr>
              <a:t>8 Dimensions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Box 24"/>
          <p:cNvSpPr/>
          <p:nvPr/>
        </p:nvSpPr>
        <p:spPr>
          <a:xfrm>
            <a:off x="9555480" y="5852160"/>
            <a:ext cx="2194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Quality scoring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Rectangle 25"/>
          <p:cNvSpPr/>
          <p:nvPr/>
        </p:nvSpPr>
        <p:spPr>
          <a:xfrm>
            <a:off x="0" y="6675120"/>
            <a:ext cx="12191400" cy="25200"/>
          </a:xfrm>
          <a:prstGeom prst="rect">
            <a:avLst/>
          </a:prstGeom>
          <a:solidFill>
            <a:srgbClr val="D4AF3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9440" rIns="90000" bIns="-19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9" name="TextBox 26"/>
          <p:cNvSpPr/>
          <p:nvPr/>
        </p:nvSpPr>
        <p:spPr>
          <a:xfrm>
            <a:off x="11155680" y="6400800"/>
            <a:ext cx="914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5 / 18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Picture 1" descr="logo.png"/>
          <p:cNvPicPr/>
          <p:nvPr/>
        </p:nvPicPr>
        <p:blipFill>
          <a:blip r:embed="rId1"/>
          <a:stretch/>
        </p:blipFill>
        <p:spPr>
          <a:xfrm>
            <a:off x="457200" y="274320"/>
            <a:ext cx="123228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1" name="TextBox 2"/>
          <p:cNvSpPr/>
          <p:nvPr/>
        </p:nvSpPr>
        <p:spPr>
          <a:xfrm>
            <a:off x="731520" y="914400"/>
            <a:ext cx="100580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B8860B"/>
                </a:solidFill>
                <a:effectLst/>
                <a:uFillTx/>
                <a:latin typeface="Calibri"/>
              </a:rPr>
              <a:t>DATA GENERATION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Rectangle 3"/>
          <p:cNvSpPr/>
          <p:nvPr/>
        </p:nvSpPr>
        <p:spPr>
          <a:xfrm>
            <a:off x="731520" y="1645920"/>
            <a:ext cx="2285640" cy="37800"/>
          </a:xfrm>
          <a:prstGeom prst="rect">
            <a:avLst/>
          </a:prstGeom>
          <a:solidFill>
            <a:srgbClr val="D4AF3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3" name="TextBox 4"/>
          <p:cNvSpPr/>
          <p:nvPr/>
        </p:nvSpPr>
        <p:spPr>
          <a:xfrm>
            <a:off x="731520" y="2011680"/>
            <a:ext cx="50288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51"/>
              </a:spcAft>
            </a:pPr>
            <a:r>
              <a:rPr lang="en-US" sz="15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We create highly realistic artificial data for training AI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51"/>
              </a:spcAft>
            </a:pPr>
            <a:r>
              <a:rPr lang="en-US" sz="15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when real-world data is hard to find, too expensive,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51"/>
              </a:spcAft>
            </a:pPr>
            <a:r>
              <a:rPr lang="en-US" sz="15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or restricted by privacy rules.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Box 5"/>
          <p:cNvSpPr/>
          <p:nvPr/>
        </p:nvSpPr>
        <p:spPr>
          <a:xfrm>
            <a:off x="731520" y="3657600"/>
            <a:ext cx="50288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49"/>
              </a:spcAft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Every generated dataset is rigorously tested to ensure it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49"/>
              </a:spcAft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matches real-world scenarios, including rare edge cases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49"/>
              </a:spcAft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that your AI needs to learn.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75" name="Chart 6"/>
          <p:cNvGraphicFramePr/>
          <p:nvPr/>
        </p:nvGraphicFramePr>
        <p:xfrm>
          <a:off x="6400800" y="2011680"/>
          <a:ext cx="5028840" cy="3200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76" name="TextBox 7"/>
          <p:cNvSpPr/>
          <p:nvPr/>
        </p:nvSpPr>
        <p:spPr>
          <a:xfrm>
            <a:off x="6400800" y="1645920"/>
            <a:ext cx="5028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B8860B"/>
                </a:solidFill>
                <a:effectLst/>
                <a:uFillTx/>
                <a:latin typeface="Calibri"/>
              </a:rPr>
              <a:t>Training Corpus Scale-Up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Box 8"/>
          <p:cNvSpPr/>
          <p:nvPr/>
        </p:nvSpPr>
        <p:spPr>
          <a:xfrm>
            <a:off x="731520" y="5303520"/>
            <a:ext cx="2559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B8860B"/>
                </a:solidFill>
                <a:effectLst/>
                <a:uFillTx/>
                <a:latin typeface="Calibri"/>
              </a:rPr>
              <a:t>87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Box 9"/>
          <p:cNvSpPr/>
          <p:nvPr/>
        </p:nvSpPr>
        <p:spPr>
          <a:xfrm>
            <a:off x="731520" y="5760720"/>
            <a:ext cx="2559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Original confirmed cases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Box 10"/>
          <p:cNvSpPr/>
          <p:nvPr/>
        </p:nvSpPr>
        <p:spPr>
          <a:xfrm>
            <a:off x="3611880" y="5303520"/>
            <a:ext cx="2559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B8860B"/>
                </a:solidFill>
                <a:effectLst/>
                <a:uFillTx/>
                <a:latin typeface="Calibri"/>
              </a:rPr>
              <a:t>50,000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Box 11"/>
          <p:cNvSpPr/>
          <p:nvPr/>
        </p:nvSpPr>
        <p:spPr>
          <a:xfrm>
            <a:off x="3611880" y="5760720"/>
            <a:ext cx="2559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Synthetic volumes created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Box 12"/>
          <p:cNvSpPr/>
          <p:nvPr/>
        </p:nvSpPr>
        <p:spPr>
          <a:xfrm>
            <a:off x="6492240" y="5303520"/>
            <a:ext cx="2559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B8860B"/>
                </a:solidFill>
                <a:effectLst/>
                <a:uFillTx/>
                <a:latin typeface="Calibri"/>
              </a:rPr>
              <a:t>&lt; 0.04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Box 13"/>
          <p:cNvSpPr/>
          <p:nvPr/>
        </p:nvSpPr>
        <p:spPr>
          <a:xfrm>
            <a:off x="6492240" y="5760720"/>
            <a:ext cx="2559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Wasserstein distance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Box 14"/>
          <p:cNvSpPr/>
          <p:nvPr/>
        </p:nvSpPr>
        <p:spPr>
          <a:xfrm>
            <a:off x="9372600" y="5303520"/>
            <a:ext cx="2559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B8860B"/>
                </a:solidFill>
                <a:effectLst/>
                <a:uFillTx/>
                <a:latin typeface="Calibri"/>
              </a:rPr>
              <a:t>ε = 1.2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Box 15"/>
          <p:cNvSpPr/>
          <p:nvPr/>
        </p:nvSpPr>
        <p:spPr>
          <a:xfrm>
            <a:off x="9372600" y="5760720"/>
            <a:ext cx="2559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Privacy budget maintained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Rectangle 16"/>
          <p:cNvSpPr/>
          <p:nvPr/>
        </p:nvSpPr>
        <p:spPr>
          <a:xfrm>
            <a:off x="0" y="6675120"/>
            <a:ext cx="12191400" cy="25200"/>
          </a:xfrm>
          <a:prstGeom prst="rect">
            <a:avLst/>
          </a:prstGeom>
          <a:solidFill>
            <a:srgbClr val="D4AF3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9440" rIns="90000" bIns="-19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6" name="TextBox 17"/>
          <p:cNvSpPr/>
          <p:nvPr/>
        </p:nvSpPr>
        <p:spPr>
          <a:xfrm>
            <a:off x="11155680" y="6400800"/>
            <a:ext cx="914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6 / 18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Picture 1" descr="logo.png"/>
          <p:cNvPicPr/>
          <p:nvPr/>
        </p:nvPicPr>
        <p:blipFill>
          <a:blip r:embed="rId1"/>
          <a:stretch/>
        </p:blipFill>
        <p:spPr>
          <a:xfrm>
            <a:off x="457200" y="274320"/>
            <a:ext cx="123228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8" name="TextBox 2"/>
          <p:cNvSpPr/>
          <p:nvPr/>
        </p:nvSpPr>
        <p:spPr>
          <a:xfrm>
            <a:off x="731520" y="914400"/>
            <a:ext cx="100580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D4AF37"/>
                </a:solidFill>
                <a:effectLst/>
                <a:uFillTx/>
                <a:latin typeface="Calibri"/>
              </a:rPr>
              <a:t>QUALITY TESTING &amp; ANALYSIS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Rectangle 3"/>
          <p:cNvSpPr/>
          <p:nvPr/>
        </p:nvSpPr>
        <p:spPr>
          <a:xfrm>
            <a:off x="731520" y="1645920"/>
            <a:ext cx="2285640" cy="37800"/>
          </a:xfrm>
          <a:prstGeom prst="rect">
            <a:avLst/>
          </a:prstGeom>
          <a:solidFill>
            <a:srgbClr val="D4AF3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0" name="TextBox 4"/>
          <p:cNvSpPr/>
          <p:nvPr/>
        </p:nvSpPr>
        <p:spPr>
          <a:xfrm>
            <a:off x="731520" y="2011680"/>
            <a:ext cx="50288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51"/>
              </a:spcAft>
            </a:pP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We thoroughly test your datasets and AI models to make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51"/>
              </a:spcAft>
            </a:pP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sure everything works perfectly. We treat data quality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51"/>
              </a:spcAft>
            </a:pP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with the same strict standards as software code.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Box 5"/>
          <p:cNvSpPr/>
          <p:nvPr/>
        </p:nvSpPr>
        <p:spPr>
          <a:xfrm>
            <a:off x="731520" y="3657600"/>
            <a:ext cx="50288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49"/>
              </a:spcAft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Through automated checks and expert reviews, we push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49"/>
              </a:spcAft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your systems to their limits. If something falls short,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49"/>
              </a:spcAft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we fix it before it ever reaches you.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Oval 6"/>
          <p:cNvSpPr/>
          <p:nvPr/>
        </p:nvSpPr>
        <p:spPr>
          <a:xfrm>
            <a:off x="6858000" y="2286000"/>
            <a:ext cx="1371240" cy="1371240"/>
          </a:xfrm>
          <a:prstGeom prst="ellipse">
            <a:avLst/>
          </a:prstGeom>
          <a:noFill/>
          <a:ln w="25400">
            <a:solidFill>
              <a:srgbClr val="D4AF3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3" name="Oval 7"/>
          <p:cNvSpPr/>
          <p:nvPr/>
        </p:nvSpPr>
        <p:spPr>
          <a:xfrm>
            <a:off x="6995160" y="2423160"/>
            <a:ext cx="1096920" cy="1096920"/>
          </a:xfrm>
          <a:prstGeom prst="ellipse">
            <a:avLst/>
          </a:prstGeom>
          <a:solidFill>
            <a:srgbClr val="12121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4" name="TextBox 8"/>
          <p:cNvSpPr/>
          <p:nvPr/>
        </p:nvSpPr>
        <p:spPr>
          <a:xfrm>
            <a:off x="6858000" y="2514600"/>
            <a:ext cx="1371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D4AF37"/>
                </a:solidFill>
                <a:effectLst/>
                <a:uFillTx/>
                <a:latin typeface="Calibri"/>
              </a:rPr>
              <a:t>0.94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Box 9"/>
          <p:cNvSpPr/>
          <p:nvPr/>
        </p:nvSpPr>
        <p:spPr>
          <a:xfrm>
            <a:off x="6675120" y="3840480"/>
            <a:ext cx="1737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F1 Score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Oval 10"/>
          <p:cNvSpPr/>
          <p:nvPr/>
        </p:nvSpPr>
        <p:spPr>
          <a:xfrm>
            <a:off x="8595360" y="2286000"/>
            <a:ext cx="1371240" cy="1371240"/>
          </a:xfrm>
          <a:prstGeom prst="ellipse">
            <a:avLst/>
          </a:prstGeom>
          <a:noFill/>
          <a:ln w="25400">
            <a:solidFill>
              <a:srgbClr val="F59E0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7" name="Oval 11"/>
          <p:cNvSpPr/>
          <p:nvPr/>
        </p:nvSpPr>
        <p:spPr>
          <a:xfrm>
            <a:off x="8732520" y="2423160"/>
            <a:ext cx="1096920" cy="1096920"/>
          </a:xfrm>
          <a:prstGeom prst="ellipse">
            <a:avLst/>
          </a:prstGeom>
          <a:solidFill>
            <a:srgbClr val="12121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8" name="TextBox 12"/>
          <p:cNvSpPr/>
          <p:nvPr/>
        </p:nvSpPr>
        <p:spPr>
          <a:xfrm>
            <a:off x="8595360" y="2514600"/>
            <a:ext cx="1371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59E0B"/>
                </a:solidFill>
                <a:effectLst/>
                <a:uFillTx/>
                <a:latin typeface="Calibri"/>
              </a:rPr>
              <a:t>0.90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Box 13"/>
          <p:cNvSpPr/>
          <p:nvPr/>
        </p:nvSpPr>
        <p:spPr>
          <a:xfrm>
            <a:off x="8412480" y="3840480"/>
            <a:ext cx="1737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Cohen's Kappa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Oval 14"/>
          <p:cNvSpPr/>
          <p:nvPr/>
        </p:nvSpPr>
        <p:spPr>
          <a:xfrm>
            <a:off x="10332720" y="2286000"/>
            <a:ext cx="1371240" cy="1371240"/>
          </a:xfrm>
          <a:prstGeom prst="ellipse">
            <a:avLst/>
          </a:prstGeom>
          <a:noFill/>
          <a:ln w="25400">
            <a:solidFill>
              <a:srgbClr val="B8860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1" name="Oval 15"/>
          <p:cNvSpPr/>
          <p:nvPr/>
        </p:nvSpPr>
        <p:spPr>
          <a:xfrm>
            <a:off x="10469880" y="2423160"/>
            <a:ext cx="1096920" cy="1096920"/>
          </a:xfrm>
          <a:prstGeom prst="ellipse">
            <a:avLst/>
          </a:prstGeom>
          <a:solidFill>
            <a:srgbClr val="12121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2" name="TextBox 16"/>
          <p:cNvSpPr/>
          <p:nvPr/>
        </p:nvSpPr>
        <p:spPr>
          <a:xfrm>
            <a:off x="10332720" y="2514600"/>
            <a:ext cx="1371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B8860B"/>
                </a:solidFill>
                <a:effectLst/>
                <a:uFillTx/>
                <a:latin typeface="Calibri"/>
              </a:rPr>
              <a:t>99.98%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Box 17"/>
          <p:cNvSpPr/>
          <p:nvPr/>
        </p:nvSpPr>
        <p:spPr>
          <a:xfrm>
            <a:off x="10149840" y="3840480"/>
            <a:ext cx="1737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Consensus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Box 18"/>
          <p:cNvSpPr/>
          <p:nvPr/>
        </p:nvSpPr>
        <p:spPr>
          <a:xfrm>
            <a:off x="731520" y="502920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D4AF37"/>
                </a:solidFill>
                <a:effectLst/>
                <a:uFillTx/>
                <a:latin typeface="Calibri"/>
              </a:rPr>
              <a:t>8-DIMENSION QUALITY SCORING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Box 19"/>
          <p:cNvSpPr/>
          <p:nvPr/>
        </p:nvSpPr>
        <p:spPr>
          <a:xfrm>
            <a:off x="731520" y="5486400"/>
            <a:ext cx="2285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✓  Accuracy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Box 20"/>
          <p:cNvSpPr/>
          <p:nvPr/>
        </p:nvSpPr>
        <p:spPr>
          <a:xfrm>
            <a:off x="3291840" y="5486400"/>
            <a:ext cx="2285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✓  Completeness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Box 21"/>
          <p:cNvSpPr/>
          <p:nvPr/>
        </p:nvSpPr>
        <p:spPr>
          <a:xfrm>
            <a:off x="5852160" y="5486400"/>
            <a:ext cx="2285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✓  Consistency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Box 22"/>
          <p:cNvSpPr/>
          <p:nvPr/>
        </p:nvSpPr>
        <p:spPr>
          <a:xfrm>
            <a:off x="8412480" y="5486400"/>
            <a:ext cx="2285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✓  Timeliness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Box 23"/>
          <p:cNvSpPr/>
          <p:nvPr/>
        </p:nvSpPr>
        <p:spPr>
          <a:xfrm>
            <a:off x="731520" y="5989320"/>
            <a:ext cx="2285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✓  Validity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Box 24"/>
          <p:cNvSpPr/>
          <p:nvPr/>
        </p:nvSpPr>
        <p:spPr>
          <a:xfrm>
            <a:off x="3291840" y="5989320"/>
            <a:ext cx="2285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✓  Uniqueness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Box 25"/>
          <p:cNvSpPr/>
          <p:nvPr/>
        </p:nvSpPr>
        <p:spPr>
          <a:xfrm>
            <a:off x="5852160" y="5989320"/>
            <a:ext cx="2285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✓  Relevance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Box 26"/>
          <p:cNvSpPr/>
          <p:nvPr/>
        </p:nvSpPr>
        <p:spPr>
          <a:xfrm>
            <a:off x="8412480" y="5989320"/>
            <a:ext cx="2285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✓  Accessibility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Rectangle 27"/>
          <p:cNvSpPr/>
          <p:nvPr/>
        </p:nvSpPr>
        <p:spPr>
          <a:xfrm>
            <a:off x="0" y="6675120"/>
            <a:ext cx="12191400" cy="25200"/>
          </a:xfrm>
          <a:prstGeom prst="rect">
            <a:avLst/>
          </a:prstGeom>
          <a:solidFill>
            <a:srgbClr val="D4AF3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9440" rIns="90000" bIns="-19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4" name="TextBox 28"/>
          <p:cNvSpPr/>
          <p:nvPr/>
        </p:nvSpPr>
        <p:spPr>
          <a:xfrm>
            <a:off x="11155680" y="6400800"/>
            <a:ext cx="914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7 / 18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Picture 1" descr="logo.png"/>
          <p:cNvPicPr/>
          <p:nvPr/>
        </p:nvPicPr>
        <p:blipFill>
          <a:blip r:embed="rId1"/>
          <a:stretch/>
        </p:blipFill>
        <p:spPr>
          <a:xfrm>
            <a:off x="457200" y="274320"/>
            <a:ext cx="123228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6" name="TextBox 2"/>
          <p:cNvSpPr/>
          <p:nvPr/>
        </p:nvSpPr>
        <p:spPr>
          <a:xfrm>
            <a:off x="731520" y="914400"/>
            <a:ext cx="100580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B8860B"/>
                </a:solidFill>
                <a:effectLst/>
                <a:uFillTx/>
                <a:latin typeface="Calibri"/>
              </a:rPr>
              <a:t>AI IMPLEMENTATION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Rectangle 3"/>
          <p:cNvSpPr/>
          <p:nvPr/>
        </p:nvSpPr>
        <p:spPr>
          <a:xfrm>
            <a:off x="731520" y="1645920"/>
            <a:ext cx="2285640" cy="37800"/>
          </a:xfrm>
          <a:prstGeom prst="rect">
            <a:avLst/>
          </a:prstGeom>
          <a:solidFill>
            <a:srgbClr val="D4AF3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8" name="TextBox 4"/>
          <p:cNvSpPr/>
          <p:nvPr/>
        </p:nvSpPr>
        <p:spPr>
          <a:xfrm>
            <a:off x="731520" y="2011680"/>
            <a:ext cx="50288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51"/>
              </a:spcAft>
            </a:pPr>
            <a:r>
              <a:rPr lang="en-US" sz="15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We quickly build and launch custom AI solutions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51"/>
              </a:spcAft>
            </a:pPr>
            <a:r>
              <a:rPr lang="en-US" sz="15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tailored to your business, helping you test your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51"/>
              </a:spcAft>
            </a:pPr>
            <a:r>
              <a:rPr lang="en-US" sz="15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ideas in the real world before scaling up.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Box 5"/>
          <p:cNvSpPr/>
          <p:nvPr/>
        </p:nvSpPr>
        <p:spPr>
          <a:xfrm>
            <a:off x="731520" y="3657600"/>
            <a:ext cx="50288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49"/>
              </a:spcAft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Once proven, we turn your prototype into a secure,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49"/>
              </a:spcAft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scalable, and easy-to-understand system that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49"/>
              </a:spcAft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continuously monitors its own performance.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20" name="Chart 6"/>
          <p:cNvGraphicFramePr/>
          <p:nvPr/>
        </p:nvGraphicFramePr>
        <p:xfrm>
          <a:off x="6400800" y="1828800"/>
          <a:ext cx="5303160" cy="3200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21" name="TextBox 7"/>
          <p:cNvSpPr/>
          <p:nvPr/>
        </p:nvSpPr>
        <p:spPr>
          <a:xfrm>
            <a:off x="6400800" y="1463040"/>
            <a:ext cx="5303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B8860B"/>
                </a:solidFill>
                <a:effectLst/>
                <a:uFillTx/>
                <a:latin typeface="Calibri"/>
              </a:rPr>
              <a:t>ROI Growth Trajectory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Rounded Rectangle 8"/>
          <p:cNvSpPr/>
          <p:nvPr/>
        </p:nvSpPr>
        <p:spPr>
          <a:xfrm>
            <a:off x="731520" y="5120640"/>
            <a:ext cx="3474360" cy="1462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3" name="TextBox 9"/>
          <p:cNvSpPr/>
          <p:nvPr/>
        </p:nvSpPr>
        <p:spPr>
          <a:xfrm>
            <a:off x="914400" y="5212080"/>
            <a:ext cx="3108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B8860B"/>
                </a:solidFill>
                <a:effectLst/>
                <a:uFillTx/>
                <a:latin typeface="Calibri"/>
              </a:rPr>
              <a:t>Phase 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Box 10"/>
          <p:cNvSpPr/>
          <p:nvPr/>
        </p:nvSpPr>
        <p:spPr>
          <a:xfrm>
            <a:off x="914400" y="5440680"/>
            <a:ext cx="3108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0A0A0F"/>
                </a:solidFill>
                <a:effectLst/>
                <a:uFillTx/>
                <a:latin typeface="Calibri"/>
              </a:rPr>
              <a:t>Discovery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Box 11"/>
          <p:cNvSpPr/>
          <p:nvPr/>
        </p:nvSpPr>
        <p:spPr>
          <a:xfrm>
            <a:off x="914400" y="5806440"/>
            <a:ext cx="31086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0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Audit constraints,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0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data modalities,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0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requirements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Rounded Rectangle 12"/>
          <p:cNvSpPr/>
          <p:nvPr/>
        </p:nvSpPr>
        <p:spPr>
          <a:xfrm>
            <a:off x="4572000" y="5120640"/>
            <a:ext cx="3474360" cy="1462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7" name="TextBox 13"/>
          <p:cNvSpPr/>
          <p:nvPr/>
        </p:nvSpPr>
        <p:spPr>
          <a:xfrm>
            <a:off x="4754880" y="5212080"/>
            <a:ext cx="3108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B8860B"/>
                </a:solidFill>
                <a:effectLst/>
                <a:uFillTx/>
                <a:latin typeface="Calibri"/>
              </a:rPr>
              <a:t>Phase 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Box 14"/>
          <p:cNvSpPr/>
          <p:nvPr/>
        </p:nvSpPr>
        <p:spPr>
          <a:xfrm>
            <a:off x="4754880" y="5440680"/>
            <a:ext cx="3108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0A0A0F"/>
                </a:solidFill>
                <a:effectLst/>
                <a:uFillTx/>
                <a:latin typeface="Calibri"/>
              </a:rPr>
              <a:t>Implementation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Box 15"/>
          <p:cNvSpPr/>
          <p:nvPr/>
        </p:nvSpPr>
        <p:spPr>
          <a:xfrm>
            <a:off x="4754880" y="5806440"/>
            <a:ext cx="31086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0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Build models,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0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rapid iteration,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0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quality consensus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Rounded Rectangle 16"/>
          <p:cNvSpPr/>
          <p:nvPr/>
        </p:nvSpPr>
        <p:spPr>
          <a:xfrm>
            <a:off x="8412480" y="5120640"/>
            <a:ext cx="3474360" cy="1462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1" name="TextBox 17"/>
          <p:cNvSpPr/>
          <p:nvPr/>
        </p:nvSpPr>
        <p:spPr>
          <a:xfrm>
            <a:off x="8595360" y="5212080"/>
            <a:ext cx="3108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B8860B"/>
                </a:solidFill>
                <a:effectLst/>
                <a:uFillTx/>
                <a:latin typeface="Calibri"/>
              </a:rPr>
              <a:t>Phase 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Box 18"/>
          <p:cNvSpPr/>
          <p:nvPr/>
        </p:nvSpPr>
        <p:spPr>
          <a:xfrm>
            <a:off x="8595360" y="5440680"/>
            <a:ext cx="3108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0A0A0F"/>
                </a:solidFill>
                <a:effectLst/>
                <a:uFillTx/>
                <a:latin typeface="Calibri"/>
              </a:rPr>
              <a:t>Scaling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Box 19"/>
          <p:cNvSpPr/>
          <p:nvPr/>
        </p:nvSpPr>
        <p:spPr>
          <a:xfrm>
            <a:off x="8595360" y="5806440"/>
            <a:ext cx="31086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0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Deploy to cloud,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0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drift monitoring,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0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SLA optimization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Rectangle 20"/>
          <p:cNvSpPr/>
          <p:nvPr/>
        </p:nvSpPr>
        <p:spPr>
          <a:xfrm>
            <a:off x="0" y="6675120"/>
            <a:ext cx="12191400" cy="25200"/>
          </a:xfrm>
          <a:prstGeom prst="rect">
            <a:avLst/>
          </a:prstGeom>
          <a:solidFill>
            <a:srgbClr val="D4AF3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9440" rIns="90000" bIns="-19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5" name="TextBox 21"/>
          <p:cNvSpPr/>
          <p:nvPr/>
        </p:nvSpPr>
        <p:spPr>
          <a:xfrm>
            <a:off x="11155680" y="6400800"/>
            <a:ext cx="914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8 / 18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Picture 1" descr="logo.png"/>
          <p:cNvPicPr/>
          <p:nvPr/>
        </p:nvPicPr>
        <p:blipFill>
          <a:blip r:embed="rId1"/>
          <a:stretch/>
        </p:blipFill>
        <p:spPr>
          <a:xfrm>
            <a:off x="457200" y="274320"/>
            <a:ext cx="123228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7" name="TextBox 2"/>
          <p:cNvSpPr/>
          <p:nvPr/>
        </p:nvSpPr>
        <p:spPr>
          <a:xfrm>
            <a:off x="731520" y="64008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D4AF37"/>
                </a:solidFill>
                <a:effectLst/>
                <a:uFillTx/>
                <a:latin typeface="Calibri"/>
              </a:rPr>
              <a:t>CASE STUDY 01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Box 3"/>
          <p:cNvSpPr/>
          <p:nvPr/>
        </p:nvSpPr>
        <p:spPr>
          <a:xfrm>
            <a:off x="731520" y="1005840"/>
            <a:ext cx="100580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HEALTHCARE — RARE DISEASE DIAGNOSTICS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Rectangle 4"/>
          <p:cNvSpPr/>
          <p:nvPr/>
        </p:nvSpPr>
        <p:spPr>
          <a:xfrm>
            <a:off x="731520" y="1737360"/>
            <a:ext cx="2285640" cy="37800"/>
          </a:xfrm>
          <a:prstGeom prst="rect">
            <a:avLst/>
          </a:prstGeom>
          <a:solidFill>
            <a:srgbClr val="D4AF3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0" name="TextBox 5"/>
          <p:cNvSpPr/>
          <p:nvPr/>
        </p:nvSpPr>
        <p:spPr>
          <a:xfrm>
            <a:off x="731520" y="2103120"/>
            <a:ext cx="36572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5200" b="1" u="none" strike="noStrike">
                <a:solidFill>
                  <a:srgbClr val="D4AF37"/>
                </a:solidFill>
                <a:effectLst/>
                <a:uFillTx/>
                <a:latin typeface="Calibri"/>
              </a:rPr>
              <a:t>0.72 → 0.91</a:t>
            </a:r>
            <a:endParaRPr lang="en-US" sz="5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Box 6"/>
          <p:cNvSpPr/>
          <p:nvPr/>
        </p:nvSpPr>
        <p:spPr>
          <a:xfrm>
            <a:off x="731520" y="1828800"/>
            <a:ext cx="365724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Diagnostic AUC Score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42" name="Chart 7"/>
          <p:cNvGraphicFramePr/>
          <p:nvPr/>
        </p:nvGraphicFramePr>
        <p:xfrm>
          <a:off x="731520" y="3840480"/>
          <a:ext cx="4114440" cy="2285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43" name="TextBox 8"/>
          <p:cNvSpPr/>
          <p:nvPr/>
        </p:nvSpPr>
        <p:spPr>
          <a:xfrm>
            <a:off x="5486400" y="210312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D4AF37"/>
                </a:solidFill>
                <a:effectLst/>
                <a:uFillTx/>
                <a:latin typeface="Calibri"/>
              </a:rPr>
              <a:t>WHAT WE DID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Box 9"/>
          <p:cNvSpPr/>
          <p:nvPr/>
        </p:nvSpPr>
        <p:spPr>
          <a:xfrm>
            <a:off x="5486400" y="2423160"/>
            <a:ext cx="5943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Engineered a physics-informed synthetic MRI volume library to address severe scarcity in confirmed training cases for a rare oncological condition.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Box 10"/>
          <p:cNvSpPr/>
          <p:nvPr/>
        </p:nvSpPr>
        <p:spPr>
          <a:xfrm>
            <a:off x="5486400" y="356616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D4AF37"/>
                </a:solidFill>
                <a:effectLst/>
                <a:uFillTx/>
                <a:latin typeface="Calibri"/>
              </a:rPr>
              <a:t>HOW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Box 11"/>
          <p:cNvSpPr/>
          <p:nvPr/>
        </p:nvSpPr>
        <p:spPr>
          <a:xfrm>
            <a:off x="5486400" y="3886200"/>
            <a:ext cx="5943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Applied parametric copula modeling to capture spatial correlations. Differential privacy budget (ε = 1.2) enforced throughout. Wasserstein distance validated below 0.04.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Box 12"/>
          <p:cNvSpPr/>
          <p:nvPr/>
        </p:nvSpPr>
        <p:spPr>
          <a:xfrm>
            <a:off x="5486400" y="502920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D4AF37"/>
                </a:solidFill>
                <a:effectLst/>
                <a:uFillTx/>
                <a:latin typeface="Calibri"/>
              </a:rPr>
              <a:t>RESULT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Box 13"/>
          <p:cNvSpPr/>
          <p:nvPr/>
        </p:nvSpPr>
        <p:spPr>
          <a:xfrm>
            <a:off x="5486400" y="5349240"/>
            <a:ext cx="5943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Training corpus scaled from 87 confirmed cases to 50,000 synthetic volumes, enabling the first statistically valid model training run.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" name="Rectangle 14"/>
          <p:cNvSpPr/>
          <p:nvPr/>
        </p:nvSpPr>
        <p:spPr>
          <a:xfrm>
            <a:off x="0" y="6675120"/>
            <a:ext cx="12191400" cy="25200"/>
          </a:xfrm>
          <a:prstGeom prst="rect">
            <a:avLst/>
          </a:prstGeom>
          <a:solidFill>
            <a:srgbClr val="D4AF3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9440" rIns="90000" bIns="-19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0" name="TextBox 15"/>
          <p:cNvSpPr/>
          <p:nvPr/>
        </p:nvSpPr>
        <p:spPr>
          <a:xfrm>
            <a:off x="11155680" y="6400800"/>
            <a:ext cx="914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9 / 18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Picture 1" descr="logo.png"/>
          <p:cNvPicPr/>
          <p:nvPr/>
        </p:nvPicPr>
        <p:blipFill>
          <a:blip r:embed="rId1"/>
          <a:stretch/>
        </p:blipFill>
        <p:spPr>
          <a:xfrm>
            <a:off x="457200" y="274320"/>
            <a:ext cx="123228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2" name="TextBox 2"/>
          <p:cNvSpPr/>
          <p:nvPr/>
        </p:nvSpPr>
        <p:spPr>
          <a:xfrm>
            <a:off x="731520" y="64008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B8860B"/>
                </a:solidFill>
                <a:effectLst/>
                <a:uFillTx/>
                <a:latin typeface="Calibri"/>
              </a:rPr>
              <a:t>CASE STUDY 02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Box 3"/>
          <p:cNvSpPr/>
          <p:nvPr/>
        </p:nvSpPr>
        <p:spPr>
          <a:xfrm>
            <a:off x="731520" y="1005840"/>
            <a:ext cx="100580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A0A0F"/>
                </a:solidFill>
                <a:effectLst/>
                <a:uFillTx/>
                <a:latin typeface="Calibri"/>
              </a:rPr>
              <a:t>PRECISION AGRICULTURE — DRONE TELEMETRY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Rectangle 4"/>
          <p:cNvSpPr/>
          <p:nvPr/>
        </p:nvSpPr>
        <p:spPr>
          <a:xfrm>
            <a:off x="731520" y="1737360"/>
            <a:ext cx="2285640" cy="37800"/>
          </a:xfrm>
          <a:prstGeom prst="rect">
            <a:avLst/>
          </a:prstGeom>
          <a:solidFill>
            <a:srgbClr val="D4AF3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5" name="TextBox 5"/>
          <p:cNvSpPr/>
          <p:nvPr/>
        </p:nvSpPr>
        <p:spPr>
          <a:xfrm>
            <a:off x="731520" y="2103120"/>
            <a:ext cx="36572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5200" b="1" u="none" strike="noStrike">
                <a:solidFill>
                  <a:srgbClr val="B8860B"/>
                </a:solidFill>
                <a:effectLst/>
                <a:uFillTx/>
                <a:latin typeface="Calibri"/>
              </a:rPr>
              <a:t>3h → 25min</a:t>
            </a:r>
            <a:endParaRPr lang="en-US" sz="5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Box 6"/>
          <p:cNvSpPr/>
          <p:nvPr/>
        </p:nvSpPr>
        <p:spPr>
          <a:xfrm>
            <a:off x="731520" y="182880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Field Scouting Time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Oval 7"/>
          <p:cNvSpPr/>
          <p:nvPr/>
        </p:nvSpPr>
        <p:spPr>
          <a:xfrm>
            <a:off x="914400" y="3840480"/>
            <a:ext cx="1828440" cy="1828440"/>
          </a:xfrm>
          <a:prstGeom prst="ellipse">
            <a:avLst/>
          </a:prstGeom>
          <a:solidFill>
            <a:srgbClr val="FEF3C7"/>
          </a:solidFill>
          <a:ln w="25400">
            <a:solidFill>
              <a:srgbClr val="B8860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8" name="TextBox 8"/>
          <p:cNvSpPr/>
          <p:nvPr/>
        </p:nvSpPr>
        <p:spPr>
          <a:xfrm>
            <a:off x="914400" y="4297680"/>
            <a:ext cx="1828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B8860B"/>
                </a:solidFill>
                <a:effectLst/>
                <a:uFillTx/>
                <a:latin typeface="Calibri"/>
              </a:rPr>
              <a:t>3 hours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Box 9"/>
          <p:cNvSpPr/>
          <p:nvPr/>
        </p:nvSpPr>
        <p:spPr>
          <a:xfrm>
            <a:off x="2926080" y="4297680"/>
            <a:ext cx="7311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B8860B"/>
                </a:solidFill>
                <a:effectLst/>
                <a:uFillTx/>
                <a:latin typeface="Calibri"/>
              </a:rPr>
              <a:t>→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Oval 10"/>
          <p:cNvSpPr/>
          <p:nvPr/>
        </p:nvSpPr>
        <p:spPr>
          <a:xfrm>
            <a:off x="3657600" y="4114800"/>
            <a:ext cx="1279800" cy="1279800"/>
          </a:xfrm>
          <a:prstGeom prst="ellipse">
            <a:avLst/>
          </a:prstGeom>
          <a:solidFill>
            <a:srgbClr val="B8860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1" name="TextBox 11"/>
          <p:cNvSpPr/>
          <p:nvPr/>
        </p:nvSpPr>
        <p:spPr>
          <a:xfrm>
            <a:off x="3657600" y="4297680"/>
            <a:ext cx="1279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25 min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Box 12"/>
          <p:cNvSpPr/>
          <p:nvPr/>
        </p:nvSpPr>
        <p:spPr>
          <a:xfrm>
            <a:off x="5486400" y="210312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B8860B"/>
                </a:solidFill>
                <a:effectLst/>
                <a:uFillTx/>
                <a:latin typeface="Calibri"/>
              </a:rPr>
              <a:t>WHAT WE DID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Box 13"/>
          <p:cNvSpPr/>
          <p:nvPr/>
        </p:nvSpPr>
        <p:spPr>
          <a:xfrm>
            <a:off x="5486400" y="2423160"/>
            <a:ext cx="5943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Annotated high-density multispectral drone imagery across 14 distinct crop stress classes for a precision agriculture platform.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Box 14"/>
          <p:cNvSpPr/>
          <p:nvPr/>
        </p:nvSpPr>
        <p:spPr>
          <a:xfrm>
            <a:off x="5486400" y="356616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B8860B"/>
                </a:solidFill>
                <a:effectLst/>
                <a:uFillTx/>
                <a:latin typeface="Calibri"/>
              </a:rPr>
              <a:t>HOW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Box 15"/>
          <p:cNvSpPr/>
          <p:nvPr/>
        </p:nvSpPr>
        <p:spPr>
          <a:xfrm>
            <a:off x="5486400" y="3886200"/>
            <a:ext cx="5943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Built a domain ontology covering stress type, severity stage, and spectral band signature. Model-assisted pre-labeling reduced manual load by 58%.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Box 16"/>
          <p:cNvSpPr/>
          <p:nvPr/>
        </p:nvSpPr>
        <p:spPr>
          <a:xfrm>
            <a:off x="5486400" y="502920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B8860B"/>
                </a:solidFill>
                <a:effectLst/>
                <a:uFillTx/>
                <a:latin typeface="Calibri"/>
              </a:rPr>
              <a:t>RESULT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Box 17"/>
          <p:cNvSpPr/>
          <p:nvPr/>
        </p:nvSpPr>
        <p:spPr>
          <a:xfrm>
            <a:off x="5486400" y="5349240"/>
            <a:ext cx="5943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800,000 multispectral frames delivered at a final inter-annotator Kappa of 0.93.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Rectangle 18"/>
          <p:cNvSpPr/>
          <p:nvPr/>
        </p:nvSpPr>
        <p:spPr>
          <a:xfrm>
            <a:off x="0" y="6675120"/>
            <a:ext cx="12191400" cy="25200"/>
          </a:xfrm>
          <a:prstGeom prst="rect">
            <a:avLst/>
          </a:prstGeom>
          <a:solidFill>
            <a:srgbClr val="D4AF3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9440" rIns="90000" bIns="-19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9" name="TextBox 19"/>
          <p:cNvSpPr/>
          <p:nvPr/>
        </p:nvSpPr>
        <p:spPr>
          <a:xfrm>
            <a:off x="11155680" y="6400800"/>
            <a:ext cx="914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10 / 18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Picture 1" descr="logo.png"/>
          <p:cNvPicPr/>
          <p:nvPr/>
        </p:nvPicPr>
        <p:blipFill>
          <a:blip r:embed="rId1"/>
          <a:stretch/>
        </p:blipFill>
        <p:spPr>
          <a:xfrm>
            <a:off x="457200" y="274320"/>
            <a:ext cx="123228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1" name="TextBox 2"/>
          <p:cNvSpPr/>
          <p:nvPr/>
        </p:nvSpPr>
        <p:spPr>
          <a:xfrm>
            <a:off x="686160" y="73116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D4AF37"/>
                </a:solidFill>
                <a:effectLst/>
                <a:uFillTx/>
                <a:latin typeface="Calibri"/>
              </a:rPr>
              <a:t>CASE STUDY 03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Box 3"/>
          <p:cNvSpPr/>
          <p:nvPr/>
        </p:nvSpPr>
        <p:spPr>
          <a:xfrm>
            <a:off x="731520" y="1005840"/>
            <a:ext cx="100580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PHARMACEUTICAL — CLINICAL DOCUMENT PROCESSING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Rectangle 4"/>
          <p:cNvSpPr/>
          <p:nvPr/>
        </p:nvSpPr>
        <p:spPr>
          <a:xfrm>
            <a:off x="686160" y="2019600"/>
            <a:ext cx="2285640" cy="37800"/>
          </a:xfrm>
          <a:prstGeom prst="rect">
            <a:avLst/>
          </a:prstGeom>
          <a:solidFill>
            <a:srgbClr val="D4AF3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4" name="TextBox 5"/>
          <p:cNvSpPr/>
          <p:nvPr/>
        </p:nvSpPr>
        <p:spPr>
          <a:xfrm>
            <a:off x="731520" y="2103120"/>
            <a:ext cx="22856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4400" b="1" u="none" strike="noStrike">
                <a:solidFill>
                  <a:srgbClr val="D4AF37"/>
                </a:solidFill>
                <a:effectLst/>
                <a:uFillTx/>
                <a:latin typeface="Calibri"/>
              </a:rPr>
              <a:t>F1: 0.94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Box 6"/>
          <p:cNvSpPr/>
          <p:nvPr/>
        </p:nvSpPr>
        <p:spPr>
          <a:xfrm>
            <a:off x="3200400" y="2103120"/>
            <a:ext cx="22856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4400" b="1" u="none" strike="noStrike">
                <a:solidFill>
                  <a:srgbClr val="F59E0B"/>
                </a:solidFill>
                <a:effectLst/>
                <a:uFillTx/>
                <a:latin typeface="Calibri"/>
              </a:rPr>
              <a:t>Kappa: 0.90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76" name="Chart 7"/>
          <p:cNvGraphicFramePr/>
          <p:nvPr/>
        </p:nvGraphicFramePr>
        <p:xfrm>
          <a:off x="731520" y="3200400"/>
          <a:ext cx="4114440" cy="3200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77" name="TextBox 8"/>
          <p:cNvSpPr/>
          <p:nvPr/>
        </p:nvSpPr>
        <p:spPr>
          <a:xfrm>
            <a:off x="5486400" y="210312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D4AF37"/>
                </a:solidFill>
                <a:effectLst/>
                <a:uFillTx/>
                <a:latin typeface="Calibri"/>
              </a:rPr>
              <a:t>WHAT WE DID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Box 9"/>
          <p:cNvSpPr/>
          <p:nvPr/>
        </p:nvSpPr>
        <p:spPr>
          <a:xfrm>
            <a:off x="5486400" y="2423160"/>
            <a:ext cx="5943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Operationalized OCR-based layout-analysis extraction and structured labeling across multi-format clinical trial data collection sheets.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Box 10"/>
          <p:cNvSpPr/>
          <p:nvPr/>
        </p:nvSpPr>
        <p:spPr>
          <a:xfrm>
            <a:off x="5486400" y="356616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D4AF37"/>
                </a:solidFill>
                <a:effectLst/>
                <a:uFillTx/>
                <a:latin typeface="Calibri"/>
              </a:rPr>
              <a:t>HOW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Box 11"/>
          <p:cNvSpPr/>
          <p:nvPr/>
        </p:nvSpPr>
        <p:spPr>
          <a:xfrm>
            <a:off x="5486400" y="3886200"/>
            <a:ext cx="5943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Deployed a consensus verification protocol with triple-review on ambiguous table regions. Statistical QA gate: minimum F1 ≥ 0.93 and Cohen’s Kappa ≥ 0.90 per category.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Box 12"/>
          <p:cNvSpPr/>
          <p:nvPr/>
        </p:nvSpPr>
        <p:spPr>
          <a:xfrm>
            <a:off x="5486400" y="502920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D4AF37"/>
                </a:solidFill>
                <a:effectLst/>
                <a:uFillTx/>
                <a:latin typeface="Calibri"/>
              </a:rPr>
              <a:t>RESULT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Box 13"/>
          <p:cNvSpPr/>
          <p:nvPr/>
        </p:nvSpPr>
        <p:spPr>
          <a:xfrm>
            <a:off x="5486400" y="5349240"/>
            <a:ext cx="5943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2.1 million pages processed across 47 distinct data point categories. Zero pages required re-extraction post-delivery.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3" name="Rectangle 14"/>
          <p:cNvSpPr/>
          <p:nvPr/>
        </p:nvSpPr>
        <p:spPr>
          <a:xfrm>
            <a:off x="0" y="6675120"/>
            <a:ext cx="12191400" cy="25200"/>
          </a:xfrm>
          <a:prstGeom prst="rect">
            <a:avLst/>
          </a:prstGeom>
          <a:solidFill>
            <a:srgbClr val="D4AF3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9440" rIns="90000" bIns="-19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4" name="TextBox 15"/>
          <p:cNvSpPr/>
          <p:nvPr/>
        </p:nvSpPr>
        <p:spPr>
          <a:xfrm>
            <a:off x="11155680" y="6400800"/>
            <a:ext cx="914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11 / 18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Picture 1" descr="logo.png"/>
          <p:cNvPicPr/>
          <p:nvPr/>
        </p:nvPicPr>
        <p:blipFill>
          <a:blip r:embed="rId1"/>
          <a:stretch/>
        </p:blipFill>
        <p:spPr>
          <a:xfrm>
            <a:off x="457200" y="274320"/>
            <a:ext cx="123228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6" name="TextBox 2"/>
          <p:cNvSpPr/>
          <p:nvPr/>
        </p:nvSpPr>
        <p:spPr>
          <a:xfrm>
            <a:off x="731520" y="64008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B8860B"/>
                </a:solidFill>
                <a:effectLst/>
                <a:uFillTx/>
                <a:latin typeface="Calibri"/>
              </a:rPr>
              <a:t>CASE STUDY 04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Box 3"/>
          <p:cNvSpPr/>
          <p:nvPr/>
        </p:nvSpPr>
        <p:spPr>
          <a:xfrm>
            <a:off x="731520" y="1005840"/>
            <a:ext cx="100580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A0A0F"/>
                </a:solidFill>
                <a:effectLst/>
                <a:uFillTx/>
                <a:latin typeface="Calibri"/>
              </a:rPr>
              <a:t>RETAIL — MULTI-SKU DEMAND FORECASTING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Rectangle 4"/>
          <p:cNvSpPr/>
          <p:nvPr/>
        </p:nvSpPr>
        <p:spPr>
          <a:xfrm>
            <a:off x="731520" y="1737360"/>
            <a:ext cx="2285640" cy="37800"/>
          </a:xfrm>
          <a:prstGeom prst="rect">
            <a:avLst/>
          </a:prstGeom>
          <a:solidFill>
            <a:srgbClr val="D4AF3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9" name="TextBox 5"/>
          <p:cNvSpPr/>
          <p:nvPr/>
        </p:nvSpPr>
        <p:spPr>
          <a:xfrm>
            <a:off x="731520" y="2103120"/>
            <a:ext cx="36572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5200" b="1" u="none" strike="noStrike">
                <a:solidFill>
                  <a:srgbClr val="B8860B"/>
                </a:solidFill>
                <a:effectLst/>
                <a:uFillTx/>
                <a:latin typeface="Calibri"/>
              </a:rPr>
              <a:t>680% ROI</a:t>
            </a:r>
            <a:endParaRPr lang="en-US" sz="5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Box 6"/>
          <p:cNvSpPr/>
          <p:nvPr/>
        </p:nvSpPr>
        <p:spPr>
          <a:xfrm>
            <a:off x="731520" y="310896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at 36-month projection horizon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91" name="Chart 7"/>
          <p:cNvGraphicFramePr/>
          <p:nvPr/>
        </p:nvGraphicFramePr>
        <p:xfrm>
          <a:off x="731520" y="3657600"/>
          <a:ext cx="5028840" cy="2742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92" name="TextBox 8"/>
          <p:cNvSpPr/>
          <p:nvPr/>
        </p:nvSpPr>
        <p:spPr>
          <a:xfrm>
            <a:off x="731520" y="3383280"/>
            <a:ext cx="5028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B8860B"/>
                </a:solidFill>
                <a:effectLst/>
                <a:uFillTx/>
                <a:latin typeface="Calibri"/>
              </a:rPr>
              <a:t>ROI Growth Over 36 Months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Box 9"/>
          <p:cNvSpPr/>
          <p:nvPr/>
        </p:nvSpPr>
        <p:spPr>
          <a:xfrm>
            <a:off x="6400800" y="2103120"/>
            <a:ext cx="530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B8860B"/>
                </a:solidFill>
                <a:effectLst/>
                <a:uFillTx/>
                <a:latin typeface="Calibri"/>
              </a:rPr>
              <a:t>WHAT WE DID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Box 10"/>
          <p:cNvSpPr/>
          <p:nvPr/>
        </p:nvSpPr>
        <p:spPr>
          <a:xfrm>
            <a:off x="6400800" y="2423160"/>
            <a:ext cx="53031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Designed and integrated a custom predictive ensemble model into on-premise cloud infrastructure for multi-horizon demand forecasting.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Box 11"/>
          <p:cNvSpPr/>
          <p:nvPr/>
        </p:nvSpPr>
        <p:spPr>
          <a:xfrm>
            <a:off x="6400800" y="3566160"/>
            <a:ext cx="530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B8860B"/>
                </a:solidFill>
                <a:effectLst/>
                <a:uFillTx/>
                <a:latin typeface="Calibri"/>
              </a:rPr>
              <a:t>HOW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Box 12"/>
          <p:cNvSpPr/>
          <p:nvPr/>
        </p:nvSpPr>
        <p:spPr>
          <a:xfrm>
            <a:off x="6400800" y="3886200"/>
            <a:ext cx="53031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Three-week discovery phase mapped existing data pipelines, identified distribution shift patterns, and defined forecast horizons. SHAP explainability layer added.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Box 13"/>
          <p:cNvSpPr/>
          <p:nvPr/>
        </p:nvSpPr>
        <p:spPr>
          <a:xfrm>
            <a:off x="6400800" y="5029200"/>
            <a:ext cx="530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B8860B"/>
                </a:solidFill>
                <a:effectLst/>
                <a:uFillTx/>
                <a:latin typeface="Calibri"/>
              </a:rPr>
              <a:t>RESULT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Box 14"/>
          <p:cNvSpPr/>
          <p:nvPr/>
        </p:nvSpPr>
        <p:spPr>
          <a:xfrm>
            <a:off x="6400800" y="5349240"/>
            <a:ext cx="53031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40% reduction in manual planning overhead in the first quarter. 680% ROI demonstrated at the 36-month projection horizon.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Rectangle 15"/>
          <p:cNvSpPr/>
          <p:nvPr/>
        </p:nvSpPr>
        <p:spPr>
          <a:xfrm>
            <a:off x="0" y="6675120"/>
            <a:ext cx="12191400" cy="25200"/>
          </a:xfrm>
          <a:prstGeom prst="rect">
            <a:avLst/>
          </a:prstGeom>
          <a:solidFill>
            <a:srgbClr val="D4AF3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9440" rIns="90000" bIns="-19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0" name="TextBox 16"/>
          <p:cNvSpPr/>
          <p:nvPr/>
        </p:nvSpPr>
        <p:spPr>
          <a:xfrm>
            <a:off x="11155680" y="6400800"/>
            <a:ext cx="914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12 / 18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" name="Picture 1" descr="logo.png"/>
          <p:cNvPicPr/>
          <p:nvPr/>
        </p:nvPicPr>
        <p:blipFill>
          <a:blip r:embed="rId1"/>
          <a:stretch/>
        </p:blipFill>
        <p:spPr>
          <a:xfrm>
            <a:off x="457200" y="274320"/>
            <a:ext cx="123228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2" name="TextBox 2"/>
          <p:cNvSpPr/>
          <p:nvPr/>
        </p:nvSpPr>
        <p:spPr>
          <a:xfrm>
            <a:off x="731520" y="914400"/>
            <a:ext cx="100580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D4AF37"/>
                </a:solidFill>
                <a:effectLst/>
                <a:uFillTx/>
                <a:latin typeface="Calibri"/>
              </a:rPr>
              <a:t>QUALITY &amp; SECURITY AUDIT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3" name="Rectangle 3"/>
          <p:cNvSpPr/>
          <p:nvPr/>
        </p:nvSpPr>
        <p:spPr>
          <a:xfrm>
            <a:off x="731520" y="1645920"/>
            <a:ext cx="2285640" cy="37800"/>
          </a:xfrm>
          <a:prstGeom prst="rect">
            <a:avLst/>
          </a:prstGeom>
          <a:solidFill>
            <a:srgbClr val="D4AF3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4" name="TextBox 4"/>
          <p:cNvSpPr/>
          <p:nvPr/>
        </p:nvSpPr>
        <p:spPr>
          <a:xfrm>
            <a:off x="731520" y="192024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Independently verified post-implementation audit scores.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05" name="Chart 5"/>
          <p:cNvGraphicFramePr/>
          <p:nvPr/>
        </p:nvGraphicFramePr>
        <p:xfrm>
          <a:off x="731520" y="2560320"/>
          <a:ext cx="6400440" cy="3840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6" name="Rounded Rectangle 6"/>
          <p:cNvSpPr/>
          <p:nvPr/>
        </p:nvSpPr>
        <p:spPr>
          <a:xfrm>
            <a:off x="7772400" y="2560320"/>
            <a:ext cx="3931560" cy="3840120"/>
          </a:xfrm>
          <a:prstGeom prst="roundRect">
            <a:avLst>
              <a:gd name="adj" fmla="val 16667"/>
            </a:avLst>
          </a:prstGeom>
          <a:solidFill>
            <a:srgbClr val="121218"/>
          </a:solidFill>
          <a:ln w="12700">
            <a:solidFill>
              <a:srgbClr val="D4AF3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7" name="TextBox 7"/>
          <p:cNvSpPr/>
          <p:nvPr/>
        </p:nvSpPr>
        <p:spPr>
          <a:xfrm>
            <a:off x="7772400" y="2743200"/>
            <a:ext cx="3931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D4AF37"/>
                </a:solidFill>
                <a:effectLst/>
                <a:uFillTx/>
                <a:latin typeface="Calibri"/>
              </a:rPr>
              <a:t>OVERALL SCORE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Box 8"/>
          <p:cNvSpPr/>
          <p:nvPr/>
        </p:nvSpPr>
        <p:spPr>
          <a:xfrm>
            <a:off x="7772400" y="3200400"/>
            <a:ext cx="393156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0" b="1" u="none" strike="noStrike">
                <a:solidFill>
                  <a:srgbClr val="D4AF37"/>
                </a:solidFill>
                <a:effectLst/>
                <a:uFillTx/>
                <a:latin typeface="Calibri"/>
              </a:rPr>
              <a:t>9.4</a:t>
            </a:r>
            <a:endParaRPr lang="en-US" sz="8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Box 9"/>
          <p:cNvSpPr/>
          <p:nvPr/>
        </p:nvSpPr>
        <p:spPr>
          <a:xfrm>
            <a:off x="7772400" y="4572000"/>
            <a:ext cx="3931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out of 10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Box 10"/>
          <p:cNvSpPr/>
          <p:nvPr/>
        </p:nvSpPr>
        <p:spPr>
          <a:xfrm>
            <a:off x="7955280" y="5212080"/>
            <a:ext cx="35658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Production-grade</a:t>
            </a:r>
            <a:br>
              <a:rPr sz="1300"/>
            </a:b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startup launch ready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1" name="Rectangle 11"/>
          <p:cNvSpPr/>
          <p:nvPr/>
        </p:nvSpPr>
        <p:spPr>
          <a:xfrm>
            <a:off x="0" y="6675120"/>
            <a:ext cx="12191400" cy="25200"/>
          </a:xfrm>
          <a:prstGeom prst="rect">
            <a:avLst/>
          </a:prstGeom>
          <a:solidFill>
            <a:srgbClr val="D4AF3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9440" rIns="90000" bIns="-19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2" name="TextBox 12"/>
          <p:cNvSpPr/>
          <p:nvPr/>
        </p:nvSpPr>
        <p:spPr>
          <a:xfrm>
            <a:off x="11155680" y="6400800"/>
            <a:ext cx="914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13 / 18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" name="Picture 1" descr="logo.png"/>
          <p:cNvPicPr/>
          <p:nvPr/>
        </p:nvPicPr>
        <p:blipFill>
          <a:blip r:embed="rId1"/>
          <a:stretch/>
        </p:blipFill>
        <p:spPr>
          <a:xfrm>
            <a:off x="457200" y="274320"/>
            <a:ext cx="123228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4" name="TextBox 2"/>
          <p:cNvSpPr/>
          <p:nvPr/>
        </p:nvSpPr>
        <p:spPr>
          <a:xfrm>
            <a:off x="731520" y="914400"/>
            <a:ext cx="100580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B8860B"/>
                </a:solidFill>
                <a:effectLst/>
                <a:uFillTx/>
                <a:latin typeface="Calibri"/>
              </a:rPr>
              <a:t>TECHNOLOGY STACK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Rectangle 3"/>
          <p:cNvSpPr/>
          <p:nvPr/>
        </p:nvSpPr>
        <p:spPr>
          <a:xfrm>
            <a:off x="731520" y="1645920"/>
            <a:ext cx="2285640" cy="37800"/>
          </a:xfrm>
          <a:prstGeom prst="rect">
            <a:avLst/>
          </a:prstGeom>
          <a:solidFill>
            <a:srgbClr val="D4AF3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6" name="TextBox 4"/>
          <p:cNvSpPr/>
          <p:nvPr/>
        </p:nvSpPr>
        <p:spPr>
          <a:xfrm>
            <a:off x="731520" y="1920240"/>
            <a:ext cx="10058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Modern, performant, and production-ready infrastructure.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Rounded Rectangle 5"/>
          <p:cNvSpPr/>
          <p:nvPr/>
        </p:nvSpPr>
        <p:spPr>
          <a:xfrm>
            <a:off x="731520" y="2560320"/>
            <a:ext cx="5028840" cy="1828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8" name="Rectangle 6"/>
          <p:cNvSpPr/>
          <p:nvPr/>
        </p:nvSpPr>
        <p:spPr>
          <a:xfrm>
            <a:off x="731520" y="2560320"/>
            <a:ext cx="63000" cy="1828440"/>
          </a:xfrm>
          <a:prstGeom prst="rect">
            <a:avLst/>
          </a:prstGeom>
          <a:solidFill>
            <a:srgbClr val="B8860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9" name="TextBox 7"/>
          <p:cNvSpPr/>
          <p:nvPr/>
        </p:nvSpPr>
        <p:spPr>
          <a:xfrm>
            <a:off x="1097280" y="2697480"/>
            <a:ext cx="4114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0A0A0F"/>
                </a:solidFill>
                <a:effectLst/>
                <a:uFillTx/>
                <a:latin typeface="Calibri"/>
              </a:rPr>
              <a:t>Frontend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Box 8"/>
          <p:cNvSpPr/>
          <p:nvPr/>
        </p:nvSpPr>
        <p:spPr>
          <a:xfrm>
            <a:off x="1097280" y="3154680"/>
            <a:ext cx="2102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•  Next.js 16.2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Box 9"/>
          <p:cNvSpPr/>
          <p:nvPr/>
        </p:nvSpPr>
        <p:spPr>
          <a:xfrm>
            <a:off x="3383280" y="3154680"/>
            <a:ext cx="2102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•  React 19.2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Box 10"/>
          <p:cNvSpPr/>
          <p:nvPr/>
        </p:nvSpPr>
        <p:spPr>
          <a:xfrm>
            <a:off x="1097280" y="3657600"/>
            <a:ext cx="2102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•  TypeScript 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Box 11"/>
          <p:cNvSpPr/>
          <p:nvPr/>
        </p:nvSpPr>
        <p:spPr>
          <a:xfrm>
            <a:off x="3383280" y="3657600"/>
            <a:ext cx="2102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•  Tailwind CSS v4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Rounded Rectangle 12"/>
          <p:cNvSpPr/>
          <p:nvPr/>
        </p:nvSpPr>
        <p:spPr>
          <a:xfrm>
            <a:off x="6400800" y="2560320"/>
            <a:ext cx="5028840" cy="1828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5" name="Rectangle 13"/>
          <p:cNvSpPr/>
          <p:nvPr/>
        </p:nvSpPr>
        <p:spPr>
          <a:xfrm>
            <a:off x="6400800" y="2560320"/>
            <a:ext cx="63000" cy="1828440"/>
          </a:xfrm>
          <a:prstGeom prst="rect">
            <a:avLst/>
          </a:prstGeom>
          <a:solidFill>
            <a:srgbClr val="D4AF3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6" name="TextBox 14"/>
          <p:cNvSpPr/>
          <p:nvPr/>
        </p:nvSpPr>
        <p:spPr>
          <a:xfrm>
            <a:off x="6766560" y="2697480"/>
            <a:ext cx="4114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0A0A0F"/>
                </a:solidFill>
                <a:effectLst/>
                <a:uFillTx/>
                <a:latin typeface="Calibri"/>
              </a:rPr>
              <a:t>Backend &amp; Data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Box 15"/>
          <p:cNvSpPr/>
          <p:nvPr/>
        </p:nvSpPr>
        <p:spPr>
          <a:xfrm>
            <a:off x="6766560" y="3154680"/>
            <a:ext cx="2102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•  Prisma ORM 5.22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Box 16"/>
          <p:cNvSpPr/>
          <p:nvPr/>
        </p:nvSpPr>
        <p:spPr>
          <a:xfrm>
            <a:off x="9052560" y="3154680"/>
            <a:ext cx="2102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•  MongoDB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Box 17"/>
          <p:cNvSpPr/>
          <p:nvPr/>
        </p:nvSpPr>
        <p:spPr>
          <a:xfrm>
            <a:off x="6766560" y="3657600"/>
            <a:ext cx="2102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•  NextAuth JWT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Box 18"/>
          <p:cNvSpPr/>
          <p:nvPr/>
        </p:nvSpPr>
        <p:spPr>
          <a:xfrm>
            <a:off x="9052560" y="3657600"/>
            <a:ext cx="2102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•  Zod Validation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Rounded Rectangle 19"/>
          <p:cNvSpPr/>
          <p:nvPr/>
        </p:nvSpPr>
        <p:spPr>
          <a:xfrm>
            <a:off x="731520" y="4663440"/>
            <a:ext cx="5028840" cy="1828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2" name="Rectangle 20"/>
          <p:cNvSpPr/>
          <p:nvPr/>
        </p:nvSpPr>
        <p:spPr>
          <a:xfrm>
            <a:off x="731520" y="4663440"/>
            <a:ext cx="63000" cy="1828440"/>
          </a:xfrm>
          <a:prstGeom prst="rect">
            <a:avLst/>
          </a:prstGeom>
          <a:solidFill>
            <a:srgbClr val="F59E0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3" name="TextBox 21"/>
          <p:cNvSpPr/>
          <p:nvPr/>
        </p:nvSpPr>
        <p:spPr>
          <a:xfrm>
            <a:off x="1097280" y="4800600"/>
            <a:ext cx="4114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0A0A0F"/>
                </a:solidFill>
                <a:effectLst/>
                <a:uFillTx/>
                <a:latin typeface="Calibri"/>
              </a:rPr>
              <a:t>Animation &amp; UX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Box 22"/>
          <p:cNvSpPr/>
          <p:nvPr/>
        </p:nvSpPr>
        <p:spPr>
          <a:xfrm>
            <a:off x="1097280" y="5257800"/>
            <a:ext cx="2102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•  GSAP 3.15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Box 23"/>
          <p:cNvSpPr/>
          <p:nvPr/>
        </p:nvSpPr>
        <p:spPr>
          <a:xfrm>
            <a:off x="3383280" y="5257800"/>
            <a:ext cx="2102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•  Framer Motion 12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Box 24"/>
          <p:cNvSpPr/>
          <p:nvPr/>
        </p:nvSpPr>
        <p:spPr>
          <a:xfrm>
            <a:off x="1097280" y="5760720"/>
            <a:ext cx="2102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•  Lenis Smooth Scroll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Box 25"/>
          <p:cNvSpPr/>
          <p:nvPr/>
        </p:nvSpPr>
        <p:spPr>
          <a:xfrm>
            <a:off x="3383280" y="5760720"/>
            <a:ext cx="2102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•  WebGL Shaders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Rounded Rectangle 26"/>
          <p:cNvSpPr/>
          <p:nvPr/>
        </p:nvSpPr>
        <p:spPr>
          <a:xfrm>
            <a:off x="6400800" y="4663440"/>
            <a:ext cx="5028840" cy="1828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9" name="Rectangle 27"/>
          <p:cNvSpPr/>
          <p:nvPr/>
        </p:nvSpPr>
        <p:spPr>
          <a:xfrm>
            <a:off x="6400800" y="4663440"/>
            <a:ext cx="63000" cy="1828440"/>
          </a:xfrm>
          <a:prstGeom prst="rect">
            <a:avLst/>
          </a:prstGeom>
          <a:solidFill>
            <a:srgbClr val="926D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0" name="TextBox 28"/>
          <p:cNvSpPr/>
          <p:nvPr/>
        </p:nvSpPr>
        <p:spPr>
          <a:xfrm>
            <a:off x="6766560" y="4800600"/>
            <a:ext cx="4114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0A0A0F"/>
                </a:solidFill>
                <a:effectLst/>
                <a:uFillTx/>
                <a:latin typeface="Calibri"/>
              </a:rPr>
              <a:t>DevOps &amp; Security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Box 29"/>
          <p:cNvSpPr/>
          <p:nvPr/>
        </p:nvSpPr>
        <p:spPr>
          <a:xfrm>
            <a:off x="6766560" y="5257800"/>
            <a:ext cx="2102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•  Vercel Deployment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Box 30"/>
          <p:cNvSpPr/>
          <p:nvPr/>
        </p:nvSpPr>
        <p:spPr>
          <a:xfrm>
            <a:off x="9052560" y="5257800"/>
            <a:ext cx="2102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•  CSP Headers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TextBox 31"/>
          <p:cNvSpPr/>
          <p:nvPr/>
        </p:nvSpPr>
        <p:spPr>
          <a:xfrm>
            <a:off x="6766560" y="5760720"/>
            <a:ext cx="2102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•  HSTS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Box 32"/>
          <p:cNvSpPr/>
          <p:nvPr/>
        </p:nvSpPr>
        <p:spPr>
          <a:xfrm>
            <a:off x="9052560" y="5760720"/>
            <a:ext cx="2102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•  Rate Limiting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Rectangle 33"/>
          <p:cNvSpPr/>
          <p:nvPr/>
        </p:nvSpPr>
        <p:spPr>
          <a:xfrm>
            <a:off x="0" y="6675120"/>
            <a:ext cx="12191400" cy="25200"/>
          </a:xfrm>
          <a:prstGeom prst="rect">
            <a:avLst/>
          </a:prstGeom>
          <a:solidFill>
            <a:srgbClr val="D4AF3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9440" rIns="90000" bIns="-19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6" name="TextBox 34"/>
          <p:cNvSpPr/>
          <p:nvPr/>
        </p:nvSpPr>
        <p:spPr>
          <a:xfrm>
            <a:off x="11155680" y="6400800"/>
            <a:ext cx="914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14 / 18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7" name="Picture 1" descr="logo.png"/>
          <p:cNvPicPr/>
          <p:nvPr/>
        </p:nvPicPr>
        <p:blipFill>
          <a:blip r:embed="rId1"/>
          <a:stretch/>
        </p:blipFill>
        <p:spPr>
          <a:xfrm>
            <a:off x="457200" y="274320"/>
            <a:ext cx="123228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8" name="TextBox 2"/>
          <p:cNvSpPr/>
          <p:nvPr/>
        </p:nvSpPr>
        <p:spPr>
          <a:xfrm>
            <a:off x="731520" y="914400"/>
            <a:ext cx="100580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B8860B"/>
                </a:solidFill>
                <a:effectLst/>
                <a:uFillTx/>
                <a:latin typeface="Calibri"/>
              </a:rPr>
              <a:t>VENTURE STUDIO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Rectangle 3"/>
          <p:cNvSpPr/>
          <p:nvPr/>
        </p:nvSpPr>
        <p:spPr>
          <a:xfrm>
            <a:off x="731520" y="1645920"/>
            <a:ext cx="2285640" cy="37800"/>
          </a:xfrm>
          <a:prstGeom prst="rect">
            <a:avLst/>
          </a:prstGeom>
          <a:solidFill>
            <a:srgbClr val="D4AF3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0" name="TextBox 4"/>
          <p:cNvSpPr/>
          <p:nvPr/>
        </p:nvSpPr>
        <p:spPr>
          <a:xfrm>
            <a:off x="731520" y="1920240"/>
            <a:ext cx="10058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Internal ventures built on our infrastructure — proving our pipeline works.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Rounded Rectangle 5"/>
          <p:cNvSpPr/>
          <p:nvPr/>
        </p:nvSpPr>
        <p:spPr>
          <a:xfrm>
            <a:off x="548640" y="2560320"/>
            <a:ext cx="3474360" cy="3840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2" name="Rounded Rectangle 6"/>
          <p:cNvSpPr/>
          <p:nvPr/>
        </p:nvSpPr>
        <p:spPr>
          <a:xfrm>
            <a:off x="731520" y="2743200"/>
            <a:ext cx="1645560" cy="319680"/>
          </a:xfrm>
          <a:prstGeom prst="roundRect">
            <a:avLst>
              <a:gd name="adj" fmla="val 16667"/>
            </a:avLst>
          </a:prstGeom>
          <a:solidFill>
            <a:srgbClr val="B8860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3" name="TextBox 7"/>
          <p:cNvSpPr/>
          <p:nvPr/>
        </p:nvSpPr>
        <p:spPr>
          <a:xfrm>
            <a:off x="731520" y="2743200"/>
            <a:ext cx="1645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Technology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Box 8"/>
          <p:cNvSpPr/>
          <p:nvPr/>
        </p:nvSpPr>
        <p:spPr>
          <a:xfrm>
            <a:off x="777240" y="3200400"/>
            <a:ext cx="3017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0A0A0F"/>
                </a:solidFill>
                <a:effectLst/>
                <a:uFillTx/>
                <a:latin typeface="Calibri"/>
              </a:rPr>
              <a:t>AI Customer Support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Box 9"/>
          <p:cNvSpPr/>
          <p:nvPr/>
        </p:nvSpPr>
        <p:spPr>
          <a:xfrm>
            <a:off x="777240" y="3566160"/>
            <a:ext cx="3017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B8860B"/>
                </a:solidFill>
                <a:effectLst/>
                <a:uFillTx/>
                <a:latin typeface="Calibri"/>
              </a:rPr>
              <a:t>Customer Success &amp; Ticketing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Box 10"/>
          <p:cNvSpPr/>
          <p:nvPr/>
        </p:nvSpPr>
        <p:spPr>
          <a:xfrm>
            <a:off x="777240" y="3931920"/>
            <a:ext cx="30171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Automated support platform powered by AI routing.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Rectangle 11"/>
          <p:cNvSpPr/>
          <p:nvPr/>
        </p:nvSpPr>
        <p:spPr>
          <a:xfrm>
            <a:off x="777240" y="4846320"/>
            <a:ext cx="3017160" cy="12240"/>
          </a:xfrm>
          <a:prstGeom prst="rect">
            <a:avLst/>
          </a:prstGeom>
          <a:solidFill>
            <a:srgbClr val="CBD5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2400" rIns="90000" bIns="-324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8" name="TextBox 12"/>
          <p:cNvSpPr/>
          <p:nvPr/>
        </p:nvSpPr>
        <p:spPr>
          <a:xfrm>
            <a:off x="777240" y="5029200"/>
            <a:ext cx="3017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B8860B"/>
                </a:solidFill>
                <a:effectLst/>
                <a:uFillTx/>
                <a:latin typeface="Calibri"/>
              </a:rPr>
              <a:t>140K queries/hour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TextBox 13"/>
          <p:cNvSpPr/>
          <p:nvPr/>
        </p:nvSpPr>
        <p:spPr>
          <a:xfrm>
            <a:off x="777240" y="5486400"/>
            <a:ext cx="3017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+82% AI referral traffic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Rounded Rectangle 14"/>
          <p:cNvSpPr/>
          <p:nvPr/>
        </p:nvSpPr>
        <p:spPr>
          <a:xfrm>
            <a:off x="4297680" y="2560320"/>
            <a:ext cx="3474360" cy="3840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1" name="Rounded Rectangle 15"/>
          <p:cNvSpPr/>
          <p:nvPr/>
        </p:nvSpPr>
        <p:spPr>
          <a:xfrm>
            <a:off x="4480560" y="2743200"/>
            <a:ext cx="1645560" cy="319680"/>
          </a:xfrm>
          <a:prstGeom prst="roundRect">
            <a:avLst>
              <a:gd name="adj" fmla="val 16667"/>
            </a:avLst>
          </a:prstGeom>
          <a:solidFill>
            <a:srgbClr val="B8860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2" name="TextBox 16"/>
          <p:cNvSpPr/>
          <p:nvPr/>
        </p:nvSpPr>
        <p:spPr>
          <a:xfrm>
            <a:off x="4480560" y="2743200"/>
            <a:ext cx="1645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Healthcare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TextBox 17"/>
          <p:cNvSpPr/>
          <p:nvPr/>
        </p:nvSpPr>
        <p:spPr>
          <a:xfrm>
            <a:off x="4526280" y="3200400"/>
            <a:ext cx="3017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0A0A0F"/>
                </a:solidFill>
                <a:effectLst/>
                <a:uFillTx/>
                <a:latin typeface="Calibri"/>
              </a:rPr>
              <a:t>Healthcare Data Platform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TextBox 18"/>
          <p:cNvSpPr/>
          <p:nvPr/>
        </p:nvSpPr>
        <p:spPr>
          <a:xfrm>
            <a:off x="4526280" y="3566160"/>
            <a:ext cx="3017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B8860B"/>
                </a:solidFill>
                <a:effectLst/>
                <a:uFillTx/>
                <a:latin typeface="Calibri"/>
              </a:rPr>
              <a:t>Medical Record Analytics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Box 19"/>
          <p:cNvSpPr/>
          <p:nvPr/>
        </p:nvSpPr>
        <p:spPr>
          <a:xfrm>
            <a:off x="4526280" y="3931920"/>
            <a:ext cx="30171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Secure data warehousing and real-time analytics for distributed clinics.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Rectangle 20"/>
          <p:cNvSpPr/>
          <p:nvPr/>
        </p:nvSpPr>
        <p:spPr>
          <a:xfrm>
            <a:off x="4526280" y="4846320"/>
            <a:ext cx="3017160" cy="12240"/>
          </a:xfrm>
          <a:prstGeom prst="rect">
            <a:avLst/>
          </a:prstGeom>
          <a:solidFill>
            <a:srgbClr val="CBD5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2400" rIns="90000" bIns="-324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7" name="TextBox 21"/>
          <p:cNvSpPr/>
          <p:nvPr/>
        </p:nvSpPr>
        <p:spPr>
          <a:xfrm>
            <a:off x="4526280" y="5029200"/>
            <a:ext cx="3017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B8860B"/>
                </a:solidFill>
                <a:effectLst/>
                <a:uFillTx/>
                <a:latin typeface="Calibri"/>
              </a:rPr>
              <a:t>85K records/sec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TextBox 22"/>
          <p:cNvSpPr/>
          <p:nvPr/>
        </p:nvSpPr>
        <p:spPr>
          <a:xfrm>
            <a:off x="4526280" y="5486400"/>
            <a:ext cx="3017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10x cost reduction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Rounded Rectangle 23"/>
          <p:cNvSpPr/>
          <p:nvPr/>
        </p:nvSpPr>
        <p:spPr>
          <a:xfrm>
            <a:off x="8046720" y="2560320"/>
            <a:ext cx="3474360" cy="3840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0" name="Rounded Rectangle 24"/>
          <p:cNvSpPr/>
          <p:nvPr/>
        </p:nvSpPr>
        <p:spPr>
          <a:xfrm>
            <a:off x="8229600" y="2743200"/>
            <a:ext cx="1645560" cy="319680"/>
          </a:xfrm>
          <a:prstGeom prst="roundRect">
            <a:avLst>
              <a:gd name="adj" fmla="val 16667"/>
            </a:avLst>
          </a:prstGeom>
          <a:solidFill>
            <a:srgbClr val="B8860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1" name="TextBox 25"/>
          <p:cNvSpPr/>
          <p:nvPr/>
        </p:nvSpPr>
        <p:spPr>
          <a:xfrm>
            <a:off x="8229600" y="2743200"/>
            <a:ext cx="1645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Infrastructure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TextBox 26"/>
          <p:cNvSpPr/>
          <p:nvPr/>
        </p:nvSpPr>
        <p:spPr>
          <a:xfrm>
            <a:off x="8275320" y="3200400"/>
            <a:ext cx="3017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0A0A0F"/>
                </a:solidFill>
                <a:effectLst/>
                <a:uFillTx/>
                <a:latin typeface="Calibri"/>
              </a:rPr>
              <a:t>DevOps Automation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TextBox 27"/>
          <p:cNvSpPr/>
          <p:nvPr/>
        </p:nvSpPr>
        <p:spPr>
          <a:xfrm>
            <a:off x="8275320" y="3566160"/>
            <a:ext cx="3017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B8860B"/>
                </a:solidFill>
                <a:effectLst/>
                <a:uFillTx/>
                <a:latin typeface="Calibri"/>
              </a:rPr>
              <a:t>CI/CD Validation Pipelines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TextBox 28"/>
          <p:cNvSpPr/>
          <p:nvPr/>
        </p:nvSpPr>
        <p:spPr>
          <a:xfrm>
            <a:off x="8275320" y="3931920"/>
            <a:ext cx="30171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Automated validation and telemetry for distributed applications.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Rectangle 29"/>
          <p:cNvSpPr/>
          <p:nvPr/>
        </p:nvSpPr>
        <p:spPr>
          <a:xfrm>
            <a:off x="8275320" y="4846320"/>
            <a:ext cx="3017160" cy="12240"/>
          </a:xfrm>
          <a:prstGeom prst="rect">
            <a:avLst/>
          </a:prstGeom>
          <a:solidFill>
            <a:srgbClr val="CBD5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2400" rIns="90000" bIns="-324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6" name="TextBox 30"/>
          <p:cNvSpPr/>
          <p:nvPr/>
        </p:nvSpPr>
        <p:spPr>
          <a:xfrm>
            <a:off x="8275320" y="5029200"/>
            <a:ext cx="3017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B8860B"/>
                </a:solidFill>
                <a:effectLst/>
                <a:uFillTx/>
                <a:latin typeface="Calibri"/>
              </a:rPr>
              <a:t>12K pipelines/day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Box 31"/>
          <p:cNvSpPr/>
          <p:nvPr/>
        </p:nvSpPr>
        <p:spPr>
          <a:xfrm>
            <a:off x="8275320" y="5486400"/>
            <a:ext cx="3017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10K+ deployments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Rectangle 32"/>
          <p:cNvSpPr/>
          <p:nvPr/>
        </p:nvSpPr>
        <p:spPr>
          <a:xfrm>
            <a:off x="0" y="6675120"/>
            <a:ext cx="12191400" cy="25200"/>
          </a:xfrm>
          <a:prstGeom prst="rect">
            <a:avLst/>
          </a:prstGeom>
          <a:solidFill>
            <a:srgbClr val="D4AF3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9440" rIns="90000" bIns="-19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9" name="TextBox 33"/>
          <p:cNvSpPr/>
          <p:nvPr/>
        </p:nvSpPr>
        <p:spPr>
          <a:xfrm>
            <a:off x="11155680" y="6400800"/>
            <a:ext cx="914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16 / 18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0" name="Picture 1" descr="logo.png"/>
          <p:cNvPicPr/>
          <p:nvPr/>
        </p:nvPicPr>
        <p:blipFill>
          <a:blip r:embed="rId1"/>
          <a:stretch/>
        </p:blipFill>
        <p:spPr>
          <a:xfrm>
            <a:off x="457200" y="274320"/>
            <a:ext cx="123228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1" name="TextBox 2"/>
          <p:cNvSpPr/>
          <p:nvPr/>
        </p:nvSpPr>
        <p:spPr>
          <a:xfrm>
            <a:off x="731520" y="914400"/>
            <a:ext cx="100580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D4AF37"/>
                </a:solidFill>
                <a:effectLst/>
                <a:uFillTx/>
                <a:latin typeface="Calibri"/>
              </a:rPr>
              <a:t>INSIGHTS &amp; RESEARCH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2" name="Rectangle 3"/>
          <p:cNvSpPr/>
          <p:nvPr/>
        </p:nvSpPr>
        <p:spPr>
          <a:xfrm>
            <a:off x="731520" y="1645920"/>
            <a:ext cx="2285640" cy="37800"/>
          </a:xfrm>
          <a:prstGeom prst="rect">
            <a:avLst/>
          </a:prstGeom>
          <a:solidFill>
            <a:srgbClr val="D4AF3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3" name="TextBox 4"/>
          <p:cNvSpPr/>
          <p:nvPr/>
        </p:nvSpPr>
        <p:spPr>
          <a:xfrm>
            <a:off x="731520" y="1920240"/>
            <a:ext cx="10058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Curated articles on synthetic data, annotation, quality, and production AI.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4" name="Rounded Rectangle 5"/>
          <p:cNvSpPr/>
          <p:nvPr/>
        </p:nvSpPr>
        <p:spPr>
          <a:xfrm>
            <a:off x="548640" y="2560320"/>
            <a:ext cx="3474360" cy="1828440"/>
          </a:xfrm>
          <a:prstGeom prst="roundRect">
            <a:avLst>
              <a:gd name="adj" fmla="val 16667"/>
            </a:avLst>
          </a:prstGeom>
          <a:solidFill>
            <a:srgbClr val="121218"/>
          </a:solidFill>
          <a:ln w="12700">
            <a:solidFill>
              <a:srgbClr val="2A2A3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5" name="TextBox 6"/>
          <p:cNvSpPr/>
          <p:nvPr/>
        </p:nvSpPr>
        <p:spPr>
          <a:xfrm>
            <a:off x="731520" y="269748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F59E0B"/>
                </a:solidFill>
                <a:effectLst/>
                <a:uFillTx/>
                <a:latin typeface="Calibri"/>
              </a:rPr>
              <a:t>DATA GENERATION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6" name="TextBox 7"/>
          <p:cNvSpPr/>
          <p:nvPr/>
        </p:nvSpPr>
        <p:spPr>
          <a:xfrm>
            <a:off x="731520" y="3017520"/>
            <a:ext cx="31086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What Is Synthetic Data?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7" name="TextBox 8"/>
          <p:cNvSpPr/>
          <p:nvPr/>
        </p:nvSpPr>
        <p:spPr>
          <a:xfrm>
            <a:off x="731520" y="3474720"/>
            <a:ext cx="3108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Source: IBM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9"/>
          <p:cNvSpPr/>
          <p:nvPr/>
        </p:nvSpPr>
        <p:spPr>
          <a:xfrm>
            <a:off x="731520" y="3794760"/>
            <a:ext cx="3108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How artificially generated datasets solve the AI data scarcity problem.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9" name="Rounded Rectangle 10"/>
          <p:cNvSpPr/>
          <p:nvPr/>
        </p:nvSpPr>
        <p:spPr>
          <a:xfrm>
            <a:off x="4297680" y="2560320"/>
            <a:ext cx="3474360" cy="1828440"/>
          </a:xfrm>
          <a:prstGeom prst="roundRect">
            <a:avLst>
              <a:gd name="adj" fmla="val 16667"/>
            </a:avLst>
          </a:prstGeom>
          <a:solidFill>
            <a:srgbClr val="121218"/>
          </a:solidFill>
          <a:ln w="12700">
            <a:solidFill>
              <a:srgbClr val="2A2A3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0" name="TextBox 11"/>
          <p:cNvSpPr/>
          <p:nvPr/>
        </p:nvSpPr>
        <p:spPr>
          <a:xfrm>
            <a:off x="4480560" y="269748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D4AF37"/>
                </a:solidFill>
                <a:effectLst/>
                <a:uFillTx/>
                <a:latin typeface="Calibri"/>
              </a:rPr>
              <a:t>DATA ANNOTATION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1" name="TextBox 12"/>
          <p:cNvSpPr/>
          <p:nvPr/>
        </p:nvSpPr>
        <p:spPr>
          <a:xfrm>
            <a:off x="4480560" y="3017520"/>
            <a:ext cx="31086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What Is Data Annotation?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2" name="TextBox 13"/>
          <p:cNvSpPr/>
          <p:nvPr/>
        </p:nvSpPr>
        <p:spPr>
          <a:xfrm>
            <a:off x="4480560" y="3474720"/>
            <a:ext cx="3108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Source: IBM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3" name="TextBox 14"/>
          <p:cNvSpPr/>
          <p:nvPr/>
        </p:nvSpPr>
        <p:spPr>
          <a:xfrm>
            <a:off x="4480560" y="3794760"/>
            <a:ext cx="3108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Image labeling, NLP tagging, and why precision ontologies matter.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4" name="Rounded Rectangle 15"/>
          <p:cNvSpPr/>
          <p:nvPr/>
        </p:nvSpPr>
        <p:spPr>
          <a:xfrm>
            <a:off x="8046720" y="2560320"/>
            <a:ext cx="3474360" cy="1828440"/>
          </a:xfrm>
          <a:prstGeom prst="roundRect">
            <a:avLst>
              <a:gd name="adj" fmla="val 16667"/>
            </a:avLst>
          </a:prstGeom>
          <a:solidFill>
            <a:srgbClr val="121218"/>
          </a:solidFill>
          <a:ln w="12700">
            <a:solidFill>
              <a:srgbClr val="2A2A3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5" name="TextBox 16"/>
          <p:cNvSpPr/>
          <p:nvPr/>
        </p:nvSpPr>
        <p:spPr>
          <a:xfrm>
            <a:off x="8229600" y="269748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B8860B"/>
                </a:solidFill>
                <a:effectLst/>
                <a:uFillTx/>
                <a:latin typeface="Calibri"/>
              </a:rPr>
              <a:t>DATA AUDITING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6" name="TextBox 17"/>
          <p:cNvSpPr/>
          <p:nvPr/>
        </p:nvSpPr>
        <p:spPr>
          <a:xfrm>
            <a:off x="8229600" y="3017520"/>
            <a:ext cx="31086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Inter-Rater Reliability &amp; Cohen's Kappa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7" name="TextBox 18"/>
          <p:cNvSpPr/>
          <p:nvPr/>
        </p:nvSpPr>
        <p:spPr>
          <a:xfrm>
            <a:off x="8229600" y="3474720"/>
            <a:ext cx="3108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Source: Wikipedia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8" name="TextBox 19"/>
          <p:cNvSpPr/>
          <p:nvPr/>
        </p:nvSpPr>
        <p:spPr>
          <a:xfrm>
            <a:off x="8229600" y="3794760"/>
            <a:ext cx="3108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The statistical foundation behind measuring labeling agreement.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9" name="Rounded Rectangle 20"/>
          <p:cNvSpPr/>
          <p:nvPr/>
        </p:nvSpPr>
        <p:spPr>
          <a:xfrm>
            <a:off x="548640" y="4663440"/>
            <a:ext cx="3474360" cy="1828440"/>
          </a:xfrm>
          <a:prstGeom prst="roundRect">
            <a:avLst>
              <a:gd name="adj" fmla="val 16667"/>
            </a:avLst>
          </a:prstGeom>
          <a:solidFill>
            <a:srgbClr val="121218"/>
          </a:solidFill>
          <a:ln w="12700">
            <a:solidFill>
              <a:srgbClr val="2A2A3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0" name="TextBox 21"/>
          <p:cNvSpPr/>
          <p:nvPr/>
        </p:nvSpPr>
        <p:spPr>
          <a:xfrm>
            <a:off x="731520" y="480060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D4AF37"/>
                </a:solidFill>
                <a:effectLst/>
                <a:uFillTx/>
                <a:latin typeface="Calibri"/>
              </a:rPr>
              <a:t>AI IMPLEMENTATION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1" name="TextBox 22"/>
          <p:cNvSpPr/>
          <p:nvPr/>
        </p:nvSpPr>
        <p:spPr>
          <a:xfrm>
            <a:off x="731520" y="5120640"/>
            <a:ext cx="31086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What Is AI Model Deployment?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2" name="TextBox 23"/>
          <p:cNvSpPr/>
          <p:nvPr/>
        </p:nvSpPr>
        <p:spPr>
          <a:xfrm>
            <a:off x="731520" y="5577840"/>
            <a:ext cx="3108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Source: IBM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3" name="TextBox 24"/>
          <p:cNvSpPr/>
          <p:nvPr/>
        </p:nvSpPr>
        <p:spPr>
          <a:xfrm>
            <a:off x="731520" y="5897880"/>
            <a:ext cx="3108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Infrastructure, monitoring, drift detection, and operational decisions.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4" name="Rounded Rectangle 25"/>
          <p:cNvSpPr/>
          <p:nvPr/>
        </p:nvSpPr>
        <p:spPr>
          <a:xfrm>
            <a:off x="4297680" y="4663440"/>
            <a:ext cx="3474360" cy="1828440"/>
          </a:xfrm>
          <a:prstGeom prst="roundRect">
            <a:avLst>
              <a:gd name="adj" fmla="val 16667"/>
            </a:avLst>
          </a:prstGeom>
          <a:solidFill>
            <a:srgbClr val="121218"/>
          </a:solidFill>
          <a:ln w="12700">
            <a:solidFill>
              <a:srgbClr val="2A2A3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5" name="TextBox 26"/>
          <p:cNvSpPr/>
          <p:nvPr/>
        </p:nvSpPr>
        <p:spPr>
          <a:xfrm>
            <a:off x="4480560" y="480060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F59E0B"/>
                </a:solidFill>
                <a:effectLst/>
                <a:uFillTx/>
                <a:latin typeface="Calibri"/>
              </a:rPr>
              <a:t>DATA AUDITING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6" name="TextBox 27"/>
          <p:cNvSpPr/>
          <p:nvPr/>
        </p:nvSpPr>
        <p:spPr>
          <a:xfrm>
            <a:off x="4480560" y="5120640"/>
            <a:ext cx="31086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What Is Data Quality?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7" name="TextBox 28"/>
          <p:cNvSpPr/>
          <p:nvPr/>
        </p:nvSpPr>
        <p:spPr>
          <a:xfrm>
            <a:off x="4480560" y="5577840"/>
            <a:ext cx="3108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Source: IBM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8" name="TextBox 29"/>
          <p:cNvSpPr/>
          <p:nvPr/>
        </p:nvSpPr>
        <p:spPr>
          <a:xfrm>
            <a:off x="4480560" y="5897880"/>
            <a:ext cx="3108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Why data quality governs model performance more than architecture.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9" name="Rounded Rectangle 30"/>
          <p:cNvSpPr/>
          <p:nvPr/>
        </p:nvSpPr>
        <p:spPr>
          <a:xfrm>
            <a:off x="8046720" y="4663440"/>
            <a:ext cx="3474360" cy="1828440"/>
          </a:xfrm>
          <a:prstGeom prst="roundRect">
            <a:avLst>
              <a:gd name="adj" fmla="val 16667"/>
            </a:avLst>
          </a:prstGeom>
          <a:solidFill>
            <a:srgbClr val="121218"/>
          </a:solidFill>
          <a:ln w="12700">
            <a:solidFill>
              <a:srgbClr val="2A2A3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0" name="TextBox 31"/>
          <p:cNvSpPr/>
          <p:nvPr/>
        </p:nvSpPr>
        <p:spPr>
          <a:xfrm>
            <a:off x="8229600" y="480060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B8860B"/>
                </a:solidFill>
                <a:effectLst/>
                <a:uFillTx/>
                <a:latin typeface="Calibri"/>
              </a:rPr>
              <a:t>AI IMPLEMENTATION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1" name="TextBox 32"/>
          <p:cNvSpPr/>
          <p:nvPr/>
        </p:nvSpPr>
        <p:spPr>
          <a:xfrm>
            <a:off x="8229600" y="5120640"/>
            <a:ext cx="31086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The State of AI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2" name="TextBox 33"/>
          <p:cNvSpPr/>
          <p:nvPr/>
        </p:nvSpPr>
        <p:spPr>
          <a:xfrm>
            <a:off x="8229600" y="5577840"/>
            <a:ext cx="3108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Source: McKinsey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3" name="TextBox 34"/>
          <p:cNvSpPr/>
          <p:nvPr/>
        </p:nvSpPr>
        <p:spPr>
          <a:xfrm>
            <a:off x="8229600" y="5897880"/>
            <a:ext cx="3108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Enterprise AI adoption: ROI, blockers, and data infrastructure bottlenecks.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4" name="Rectangle 35"/>
          <p:cNvSpPr/>
          <p:nvPr/>
        </p:nvSpPr>
        <p:spPr>
          <a:xfrm>
            <a:off x="0" y="6675120"/>
            <a:ext cx="12191400" cy="25200"/>
          </a:xfrm>
          <a:prstGeom prst="rect">
            <a:avLst/>
          </a:prstGeom>
          <a:solidFill>
            <a:srgbClr val="D4AF3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9440" rIns="90000" bIns="-19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5" name="TextBox 36"/>
          <p:cNvSpPr/>
          <p:nvPr/>
        </p:nvSpPr>
        <p:spPr>
          <a:xfrm>
            <a:off x="11155680" y="6400800"/>
            <a:ext cx="914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17 / 18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Picture 1" descr="logo.png"/>
          <p:cNvPicPr/>
          <p:nvPr/>
        </p:nvPicPr>
        <p:blipFill>
          <a:blip r:embed="rId1"/>
          <a:stretch/>
        </p:blipFill>
        <p:spPr>
          <a:xfrm>
            <a:off x="457200" y="274320"/>
            <a:ext cx="123228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7" name="TextBox 2"/>
          <p:cNvSpPr/>
          <p:nvPr/>
        </p:nvSpPr>
        <p:spPr>
          <a:xfrm>
            <a:off x="731520" y="914400"/>
            <a:ext cx="100580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B8860B"/>
                </a:solidFill>
                <a:effectLst/>
                <a:uFillTx/>
                <a:latin typeface="Calibri"/>
              </a:rPr>
              <a:t>LET'S BUILD TOGETHER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Rectangle 3"/>
          <p:cNvSpPr/>
          <p:nvPr/>
        </p:nvSpPr>
        <p:spPr>
          <a:xfrm>
            <a:off x="731520" y="1645920"/>
            <a:ext cx="2285640" cy="37800"/>
          </a:xfrm>
          <a:prstGeom prst="rect">
            <a:avLst/>
          </a:prstGeom>
          <a:solidFill>
            <a:srgbClr val="D4AF3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9" name="TextBox 4"/>
          <p:cNvSpPr/>
          <p:nvPr/>
        </p:nvSpPr>
        <p:spPr>
          <a:xfrm>
            <a:off x="731520" y="2011680"/>
            <a:ext cx="64004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If you are looking to deploy commercial discipline, advanced technical execution, and lean operational structures to a high-potential market gap, let's connect.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Rounded Rectangle 5"/>
          <p:cNvSpPr/>
          <p:nvPr/>
        </p:nvSpPr>
        <p:spPr>
          <a:xfrm>
            <a:off x="731520" y="3200400"/>
            <a:ext cx="5943240" cy="3474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1" name="TextBox 6"/>
          <p:cNvSpPr/>
          <p:nvPr/>
        </p:nvSpPr>
        <p:spPr>
          <a:xfrm>
            <a:off x="1005840" y="3383280"/>
            <a:ext cx="5028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0A0A0F"/>
                </a:solidFill>
                <a:effectLst/>
                <a:uFillTx/>
                <a:latin typeface="Calibri"/>
              </a:rPr>
              <a:t>NAME / ENTITY *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Rounded Rectangle 7"/>
          <p:cNvSpPr/>
          <p:nvPr/>
        </p:nvSpPr>
        <p:spPr>
          <a:xfrm>
            <a:off x="1005840" y="3657600"/>
            <a:ext cx="5394600" cy="365400"/>
          </a:xfrm>
          <a:prstGeom prst="roundRect">
            <a:avLst>
              <a:gd name="adj" fmla="val 16667"/>
            </a:avLst>
          </a:prstGeom>
          <a:solidFill>
            <a:srgbClr val="F8F5EE"/>
          </a:solidFill>
          <a:ln w="12700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3" name="TextBox 8"/>
          <p:cNvSpPr/>
          <p:nvPr/>
        </p:nvSpPr>
        <p:spPr>
          <a:xfrm>
            <a:off x="1188720" y="3657600"/>
            <a:ext cx="5028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Your name or entity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TextBox 9"/>
          <p:cNvSpPr/>
          <p:nvPr/>
        </p:nvSpPr>
        <p:spPr>
          <a:xfrm>
            <a:off x="1005840" y="4160520"/>
            <a:ext cx="5028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0A0A0F"/>
                </a:solidFill>
                <a:effectLst/>
                <a:uFillTx/>
                <a:latin typeface="Calibri"/>
              </a:rPr>
              <a:t>CORPORATE EMAIL *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Rounded Rectangle 10"/>
          <p:cNvSpPr/>
          <p:nvPr/>
        </p:nvSpPr>
        <p:spPr>
          <a:xfrm>
            <a:off x="1005840" y="4434840"/>
            <a:ext cx="5394600" cy="365400"/>
          </a:xfrm>
          <a:prstGeom prst="roundRect">
            <a:avLst>
              <a:gd name="adj" fmla="val 16667"/>
            </a:avLst>
          </a:prstGeom>
          <a:solidFill>
            <a:srgbClr val="F8F5EE"/>
          </a:solidFill>
          <a:ln w="12700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6" name="TextBox 11"/>
          <p:cNvSpPr/>
          <p:nvPr/>
        </p:nvSpPr>
        <p:spPr>
          <a:xfrm>
            <a:off x="1188720" y="4434840"/>
            <a:ext cx="5028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you@company.com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TextBox 12"/>
          <p:cNvSpPr/>
          <p:nvPr/>
        </p:nvSpPr>
        <p:spPr>
          <a:xfrm>
            <a:off x="1005840" y="4937760"/>
            <a:ext cx="5028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0A0A0F"/>
                </a:solidFill>
                <a:effectLst/>
                <a:uFillTx/>
                <a:latin typeface="Calibri"/>
              </a:rPr>
              <a:t>PRIMARY FOCUS AREA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Rounded Rectangle 13"/>
          <p:cNvSpPr/>
          <p:nvPr/>
        </p:nvSpPr>
        <p:spPr>
          <a:xfrm>
            <a:off x="1005840" y="5212080"/>
            <a:ext cx="5394600" cy="365400"/>
          </a:xfrm>
          <a:prstGeom prst="roundRect">
            <a:avLst>
              <a:gd name="adj" fmla="val 16667"/>
            </a:avLst>
          </a:prstGeom>
          <a:solidFill>
            <a:srgbClr val="F8F5EE"/>
          </a:solidFill>
          <a:ln w="12700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9" name="TextBox 14"/>
          <p:cNvSpPr/>
          <p:nvPr/>
        </p:nvSpPr>
        <p:spPr>
          <a:xfrm>
            <a:off x="1188720" y="5212080"/>
            <a:ext cx="5028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Select a focus area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TextBox 15"/>
          <p:cNvSpPr/>
          <p:nvPr/>
        </p:nvSpPr>
        <p:spPr>
          <a:xfrm>
            <a:off x="1005840" y="5715000"/>
            <a:ext cx="5028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0A0A0F"/>
                </a:solidFill>
                <a:effectLst/>
                <a:uFillTx/>
                <a:latin typeface="Calibri"/>
              </a:rPr>
              <a:t>CONTEXT / MARKET GAP *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Rounded Rectangle 16"/>
          <p:cNvSpPr/>
          <p:nvPr/>
        </p:nvSpPr>
        <p:spPr>
          <a:xfrm>
            <a:off x="1005840" y="5989320"/>
            <a:ext cx="5394600" cy="365400"/>
          </a:xfrm>
          <a:prstGeom prst="roundRect">
            <a:avLst>
              <a:gd name="adj" fmla="val 16667"/>
            </a:avLst>
          </a:prstGeom>
          <a:solidFill>
            <a:srgbClr val="F8F5EE"/>
          </a:solidFill>
          <a:ln w="12700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2" name="TextBox 17"/>
          <p:cNvSpPr/>
          <p:nvPr/>
        </p:nvSpPr>
        <p:spPr>
          <a:xfrm>
            <a:off x="1188720" y="5989320"/>
            <a:ext cx="5028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What is the market gap and how do you plan to address it?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Rounded Rectangle 18"/>
          <p:cNvSpPr/>
          <p:nvPr/>
        </p:nvSpPr>
        <p:spPr>
          <a:xfrm>
            <a:off x="1005840" y="5989320"/>
            <a:ext cx="5394600" cy="456840"/>
          </a:xfrm>
          <a:prstGeom prst="roundRect">
            <a:avLst>
              <a:gd name="adj" fmla="val 16667"/>
            </a:avLst>
          </a:prstGeom>
          <a:solidFill>
            <a:srgbClr val="0A0A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4" name="TextBox 19"/>
          <p:cNvSpPr/>
          <p:nvPr/>
        </p:nvSpPr>
        <p:spPr>
          <a:xfrm>
            <a:off x="1005840" y="5989320"/>
            <a:ext cx="5394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SUBMIT STRUCTURAL OVERVIEW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Rounded Rectangle 20"/>
          <p:cNvSpPr/>
          <p:nvPr/>
        </p:nvSpPr>
        <p:spPr>
          <a:xfrm>
            <a:off x="7315200" y="3200400"/>
            <a:ext cx="4388760" cy="3474360"/>
          </a:xfrm>
          <a:prstGeom prst="roundRect">
            <a:avLst>
              <a:gd name="adj" fmla="val 16667"/>
            </a:avLst>
          </a:prstGeom>
          <a:solidFill>
            <a:srgbClr val="0A0A0F"/>
          </a:solidFill>
          <a:ln w="12700">
            <a:solidFill>
              <a:srgbClr val="D4AF3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6" name="TextBox 21"/>
          <p:cNvSpPr/>
          <p:nvPr/>
        </p:nvSpPr>
        <p:spPr>
          <a:xfrm>
            <a:off x="7589520" y="3474720"/>
            <a:ext cx="3840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D4AF37"/>
                </a:solidFill>
                <a:effectLst/>
                <a:uFillTx/>
                <a:latin typeface="Calibri"/>
              </a:rPr>
              <a:t>PREFERRED BY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TextBox 22"/>
          <p:cNvSpPr/>
          <p:nvPr/>
        </p:nvSpPr>
        <p:spPr>
          <a:xfrm>
            <a:off x="7589520" y="3931920"/>
            <a:ext cx="384012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80"/>
              </a:spcAft>
            </a:pPr>
            <a:r>
              <a:rPr lang="en-US" sz="13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Healthcare organizations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80"/>
              </a:spcAft>
            </a:pPr>
            <a:r>
              <a:rPr lang="en-US" sz="13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Precision agriculture platforms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80"/>
              </a:spcAft>
            </a:pPr>
            <a:r>
              <a:rPr lang="en-US" sz="13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Pharmaceutical companies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80"/>
              </a:spcAft>
            </a:pPr>
            <a:r>
              <a:rPr lang="en-US" sz="13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Retail &amp; supply chain operators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80"/>
              </a:spcAft>
            </a:pPr>
            <a:r>
              <a:rPr lang="en-US" sz="13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Enterprise AI teams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TextBox 23"/>
          <p:cNvSpPr/>
          <p:nvPr/>
        </p:nvSpPr>
        <p:spPr>
          <a:xfrm>
            <a:off x="7589520" y="5760720"/>
            <a:ext cx="3840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Avoraventure</a:t>
            </a: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.com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Rectangle 24"/>
          <p:cNvSpPr/>
          <p:nvPr/>
        </p:nvSpPr>
        <p:spPr>
          <a:xfrm>
            <a:off x="0" y="6675120"/>
            <a:ext cx="12191400" cy="25200"/>
          </a:xfrm>
          <a:prstGeom prst="rect">
            <a:avLst/>
          </a:prstGeom>
          <a:solidFill>
            <a:srgbClr val="D4AF3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9440" rIns="90000" bIns="-19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0" name="TextBox 25"/>
          <p:cNvSpPr/>
          <p:nvPr/>
        </p:nvSpPr>
        <p:spPr>
          <a:xfrm>
            <a:off x="11155680" y="6400800"/>
            <a:ext cx="914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18 / 18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LibreOffice/26.2.4.2$Linux_X86_64 LibreOffice_project/620$Build-2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2026-07-27T19:53:15Z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